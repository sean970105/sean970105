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  <p:embeddedFont>
      <p:font typeface="Noto Sans" charset="1" panose="020B0502040504020204"/>
      <p:regular r:id="rId20"/>
    </p:embeddedFont>
    <p:embeddedFont>
      <p:font typeface="Noto Sans Bold" charset="1" panose="020B0802040504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2103120"/>
            <a:ext cx="10424160" cy="5669280"/>
            <a:chOff x="0" y="0"/>
            <a:chExt cx="13898880" cy="7559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98880" cy="7559040"/>
            </a:xfrm>
            <a:custGeom>
              <a:avLst/>
              <a:gdLst/>
              <a:ahLst/>
              <a:cxnLst/>
              <a:rect r="r" b="b" t="t" l="l"/>
              <a:pathLst>
                <a:path h="7559040" w="13898880">
                  <a:moveTo>
                    <a:pt x="0" y="755904"/>
                  </a:moveTo>
                  <a:cubicBezTo>
                    <a:pt x="0" y="338455"/>
                    <a:pt x="338455" y="0"/>
                    <a:pt x="755904" y="0"/>
                  </a:cubicBezTo>
                  <a:lnTo>
                    <a:pt x="13142976" y="0"/>
                  </a:lnTo>
                  <a:cubicBezTo>
                    <a:pt x="13560425" y="0"/>
                    <a:pt x="13898880" y="338455"/>
                    <a:pt x="13898880" y="755904"/>
                  </a:cubicBezTo>
                  <a:lnTo>
                    <a:pt x="13898880" y="6803136"/>
                  </a:lnTo>
                  <a:cubicBezTo>
                    <a:pt x="13898880" y="7220585"/>
                    <a:pt x="13560425" y="7559040"/>
                    <a:pt x="13142976" y="7559040"/>
                  </a:cubicBezTo>
                  <a:lnTo>
                    <a:pt x="755904" y="7559040"/>
                  </a:lnTo>
                  <a:cubicBezTo>
                    <a:pt x="338455" y="7559040"/>
                    <a:pt x="0" y="7220585"/>
                    <a:pt x="0" y="68031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81328" y="2767203"/>
            <a:ext cx="9473184" cy="2170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彈坑快修：從影像辨識到快速評估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7048" y="5904738"/>
            <a:ext cx="9473184" cy="141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團隊：泥好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提報人:徐專洧、陳宥翔、張瑞洋、林書呈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417552" y="2124436"/>
            <a:ext cx="4846320" cy="5396446"/>
            <a:chOff x="0" y="0"/>
            <a:chExt cx="6461760" cy="7195261"/>
          </a:xfrm>
        </p:grpSpPr>
        <p:sp>
          <p:nvSpPr>
            <p:cNvPr name="Freeform 10" id="10" descr="image.jpg"/>
            <p:cNvSpPr/>
            <p:nvPr/>
          </p:nvSpPr>
          <p:spPr>
            <a:xfrm flipH="false" flipV="false" rot="0">
              <a:off x="0" y="0"/>
              <a:ext cx="6461760" cy="7195234"/>
            </a:xfrm>
            <a:custGeom>
              <a:avLst/>
              <a:gdLst/>
              <a:ahLst/>
              <a:cxnLst/>
              <a:rect r="r" b="b" t="t" l="l"/>
              <a:pathLst>
                <a:path h="7195234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195234"/>
                  </a:lnTo>
                  <a:lnTo>
                    <a:pt x="0" y="7195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62" t="0" r="-2662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955280" y="1828800"/>
            <a:ext cx="9144000" cy="1234440"/>
            <a:chOff x="0" y="0"/>
            <a:chExt cx="12192000" cy="1645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192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2027408" y="0"/>
                  </a:lnTo>
                  <a:cubicBezTo>
                    <a:pt x="12118340" y="0"/>
                    <a:pt x="12192000" y="73660"/>
                    <a:pt x="12192000" y="164592"/>
                  </a:cubicBezTo>
                  <a:lnTo>
                    <a:pt x="12192000" y="1481328"/>
                  </a:lnTo>
                  <a:cubicBezTo>
                    <a:pt x="12192000" y="1572260"/>
                    <a:pt x="12118340" y="1645920"/>
                    <a:pt x="12027408" y="1645920"/>
                  </a:cubicBezTo>
                  <a:lnTo>
                    <a:pt x="164592" y="1645920"/>
                  </a:lnTo>
                  <a:cubicBezTo>
                    <a:pt x="73660" y="1645920"/>
                    <a:pt x="0" y="1572260"/>
                    <a:pt x="0" y="14813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955280" y="3474720"/>
            <a:ext cx="9144000" cy="1234440"/>
            <a:chOff x="0" y="0"/>
            <a:chExt cx="1219200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192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2027408" y="0"/>
                  </a:lnTo>
                  <a:cubicBezTo>
                    <a:pt x="12118340" y="0"/>
                    <a:pt x="12192000" y="73660"/>
                    <a:pt x="12192000" y="164592"/>
                  </a:cubicBezTo>
                  <a:lnTo>
                    <a:pt x="12192000" y="1481328"/>
                  </a:lnTo>
                  <a:cubicBezTo>
                    <a:pt x="12192000" y="1572260"/>
                    <a:pt x="12118340" y="1645920"/>
                    <a:pt x="12027408" y="1645920"/>
                  </a:cubicBezTo>
                  <a:lnTo>
                    <a:pt x="164592" y="1645920"/>
                  </a:lnTo>
                  <a:cubicBezTo>
                    <a:pt x="73660" y="1645920"/>
                    <a:pt x="0" y="1572260"/>
                    <a:pt x="0" y="14813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55280" y="5120640"/>
            <a:ext cx="9144000" cy="1234440"/>
            <a:chOff x="0" y="0"/>
            <a:chExt cx="121920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192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2027408" y="0"/>
                  </a:lnTo>
                  <a:cubicBezTo>
                    <a:pt x="12118340" y="0"/>
                    <a:pt x="12192000" y="73660"/>
                    <a:pt x="12192000" y="164592"/>
                  </a:cubicBezTo>
                  <a:lnTo>
                    <a:pt x="12192000" y="1481328"/>
                  </a:lnTo>
                  <a:cubicBezTo>
                    <a:pt x="12192000" y="1572260"/>
                    <a:pt x="12118340" y="1645920"/>
                    <a:pt x="12027408" y="1645920"/>
                  </a:cubicBezTo>
                  <a:lnTo>
                    <a:pt x="164592" y="1645920"/>
                  </a:lnTo>
                  <a:cubicBezTo>
                    <a:pt x="73660" y="1645920"/>
                    <a:pt x="0" y="1572260"/>
                    <a:pt x="0" y="14813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55280" y="6766560"/>
            <a:ext cx="9144000" cy="1234440"/>
            <a:chOff x="0" y="0"/>
            <a:chExt cx="1219200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192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2027408" y="0"/>
                  </a:lnTo>
                  <a:cubicBezTo>
                    <a:pt x="12118340" y="0"/>
                    <a:pt x="12192000" y="73660"/>
                    <a:pt x="12192000" y="164592"/>
                  </a:cubicBezTo>
                  <a:lnTo>
                    <a:pt x="12192000" y="1481328"/>
                  </a:lnTo>
                  <a:cubicBezTo>
                    <a:pt x="12192000" y="1572260"/>
                    <a:pt x="12118340" y="1645920"/>
                    <a:pt x="12027408" y="1645920"/>
                  </a:cubicBezTo>
                  <a:lnTo>
                    <a:pt x="164592" y="1645920"/>
                  </a:lnTo>
                  <a:cubicBezTo>
                    <a:pt x="73660" y="1645920"/>
                    <a:pt x="0" y="1572260"/>
                    <a:pt x="0" y="14813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9275" y="2705893"/>
            <a:ext cx="4293024" cy="4677887"/>
            <a:chOff x="0" y="0"/>
            <a:chExt cx="1625600" cy="17713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5600" cy="1771333"/>
            </a:xfrm>
            <a:custGeom>
              <a:avLst/>
              <a:gdLst/>
              <a:ahLst/>
              <a:cxnLst/>
              <a:rect r="r" b="b" t="t" l="l"/>
              <a:pathLst>
                <a:path h="1771333" w="1625600">
                  <a:moveTo>
                    <a:pt x="1526540" y="1771333"/>
                  </a:moveTo>
                  <a:lnTo>
                    <a:pt x="99060" y="1771333"/>
                  </a:lnTo>
                  <a:cubicBezTo>
                    <a:pt x="44450" y="1771333"/>
                    <a:pt x="0" y="1737099"/>
                    <a:pt x="0" y="1695041"/>
                  </a:cubicBezTo>
                  <a:lnTo>
                    <a:pt x="0" y="76292"/>
                  </a:lnTo>
                  <a:cubicBezTo>
                    <a:pt x="0" y="34233"/>
                    <a:pt x="44450" y="0"/>
                    <a:pt x="99060" y="0"/>
                  </a:cubicBezTo>
                  <a:lnTo>
                    <a:pt x="1526540" y="0"/>
                  </a:lnTo>
                  <a:cubicBezTo>
                    <a:pt x="1581150" y="0"/>
                    <a:pt x="1625600" y="34233"/>
                    <a:pt x="1625600" y="76292"/>
                  </a:cubicBezTo>
                  <a:lnTo>
                    <a:pt x="1625600" y="1695041"/>
                  </a:lnTo>
                  <a:cubicBezTo>
                    <a:pt x="1625600" y="1737099"/>
                    <a:pt x="1581150" y="1771333"/>
                    <a:pt x="1526540" y="1771333"/>
                  </a:cubicBezTo>
                  <a:close/>
                </a:path>
              </a:pathLst>
            </a:custGeom>
            <a:blipFill>
              <a:blip r:embed="rId3"/>
              <a:stretch>
                <a:fillRect l="-23624" t="0" r="-23624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5568" y="1184148"/>
            <a:ext cx="5449824" cy="128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大綱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85048" y="2063877"/>
            <a:ext cx="8284464" cy="77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壹、國防用途與建議說明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85048" y="3709797"/>
            <a:ext cx="8284464" cy="77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貳、設計構想暨 AI 技術運用說明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85048" y="5355717"/>
            <a:ext cx="8284464" cy="77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參、預期效益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85048" y="7001637"/>
            <a:ext cx="8284464" cy="77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肆、驗證方式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2688" y="536448"/>
            <a:ext cx="16422624" cy="1155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壹、國防用途與建議說明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7008" y="1972818"/>
            <a:ext cx="7278624" cy="67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現況分析: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10928" y="2029968"/>
            <a:ext cx="7278624" cy="62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1517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AI輔助改善: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7280" y="2971800"/>
            <a:ext cx="7772400" cy="914400"/>
            <a:chOff x="0" y="0"/>
            <a:chExt cx="103632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63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36320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241280" y="0"/>
                  </a:lnTo>
                  <a:cubicBezTo>
                    <a:pt x="10308590" y="0"/>
                    <a:pt x="10363200" y="54610"/>
                    <a:pt x="10363200" y="121920"/>
                  </a:cubicBezTo>
                  <a:lnTo>
                    <a:pt x="10363200" y="1097280"/>
                  </a:lnTo>
                  <a:cubicBezTo>
                    <a:pt x="10363200" y="1164590"/>
                    <a:pt x="10308590" y="1219200"/>
                    <a:pt x="10241280" y="1219200"/>
                  </a:cubicBezTo>
                  <a:lnTo>
                    <a:pt x="121920" y="1219200"/>
                  </a:lnTo>
                  <a:cubicBezTo>
                    <a:pt x="54610" y="1219200"/>
                    <a:pt x="0" y="1164590"/>
                    <a:pt x="0" y="1097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0" y="2971800"/>
            <a:ext cx="7589520" cy="914400"/>
            <a:chOff x="0" y="0"/>
            <a:chExt cx="1011936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19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11936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997440" y="0"/>
                  </a:lnTo>
                  <a:cubicBezTo>
                    <a:pt x="10064750" y="0"/>
                    <a:pt x="10119360" y="54610"/>
                    <a:pt x="10119360" y="121920"/>
                  </a:cubicBezTo>
                  <a:lnTo>
                    <a:pt x="10119360" y="1097280"/>
                  </a:lnTo>
                  <a:cubicBezTo>
                    <a:pt x="10119360" y="1164590"/>
                    <a:pt x="10064750" y="1219200"/>
                    <a:pt x="9997440" y="1219200"/>
                  </a:cubicBezTo>
                  <a:lnTo>
                    <a:pt x="121920" y="1219200"/>
                  </a:lnTo>
                  <a:cubicBezTo>
                    <a:pt x="54610" y="1219200"/>
                    <a:pt x="0" y="1164590"/>
                    <a:pt x="0" y="1097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81328" y="3191256"/>
            <a:ext cx="7050024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5171C"/>
                </a:solidFill>
                <a:latin typeface="Noto Sans"/>
                <a:ea typeface="Noto Sans"/>
                <a:cs typeface="Noto Sans"/>
                <a:sym typeface="Noto Sans"/>
              </a:rPr>
              <a:t>1.人員進入高風險區域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85248" y="3191256"/>
            <a:ext cx="6821424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5171C"/>
                </a:solidFill>
                <a:latin typeface="Noto Sans"/>
                <a:ea typeface="Noto Sans"/>
                <a:cs typeface="Noto Sans"/>
                <a:sym typeface="Noto Sans"/>
              </a:rPr>
              <a:t>1.遠端影像的評估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97280" y="4251960"/>
            <a:ext cx="7772400" cy="914400"/>
            <a:chOff x="0" y="0"/>
            <a:chExt cx="103632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63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36320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241280" y="0"/>
                  </a:lnTo>
                  <a:cubicBezTo>
                    <a:pt x="10308590" y="0"/>
                    <a:pt x="10363200" y="54610"/>
                    <a:pt x="10363200" y="121920"/>
                  </a:cubicBezTo>
                  <a:lnTo>
                    <a:pt x="10363200" y="1097280"/>
                  </a:lnTo>
                  <a:cubicBezTo>
                    <a:pt x="10363200" y="1164590"/>
                    <a:pt x="10308590" y="1219200"/>
                    <a:pt x="10241280" y="1219200"/>
                  </a:cubicBezTo>
                  <a:lnTo>
                    <a:pt x="121920" y="1219200"/>
                  </a:lnTo>
                  <a:cubicBezTo>
                    <a:pt x="54610" y="1219200"/>
                    <a:pt x="0" y="1164590"/>
                    <a:pt x="0" y="1097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1200" y="4251960"/>
            <a:ext cx="7589520" cy="914400"/>
            <a:chOff x="0" y="0"/>
            <a:chExt cx="1011936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19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11936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997440" y="0"/>
                  </a:lnTo>
                  <a:cubicBezTo>
                    <a:pt x="10064750" y="0"/>
                    <a:pt x="10119360" y="54610"/>
                    <a:pt x="10119360" y="121920"/>
                  </a:cubicBezTo>
                  <a:lnTo>
                    <a:pt x="10119360" y="1097280"/>
                  </a:lnTo>
                  <a:cubicBezTo>
                    <a:pt x="10119360" y="1164590"/>
                    <a:pt x="10064750" y="1219200"/>
                    <a:pt x="9997440" y="1219200"/>
                  </a:cubicBezTo>
                  <a:lnTo>
                    <a:pt x="121920" y="1219200"/>
                  </a:lnTo>
                  <a:cubicBezTo>
                    <a:pt x="54610" y="1219200"/>
                    <a:pt x="0" y="1164590"/>
                    <a:pt x="0" y="1097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81328" y="4471416"/>
            <a:ext cx="7050024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5171C"/>
                </a:solidFill>
                <a:latin typeface="Noto Sans"/>
                <a:ea typeface="Noto Sans"/>
                <a:cs typeface="Noto Sans"/>
                <a:sym typeface="Noto Sans"/>
              </a:rPr>
              <a:t>2.人工測量耗時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85248" y="4471416"/>
            <a:ext cx="6821424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5171C"/>
                </a:solidFill>
                <a:latin typeface="Noto Sans"/>
                <a:ea typeface="Noto Sans"/>
                <a:cs typeface="Noto Sans"/>
                <a:sym typeface="Noto Sans"/>
              </a:rPr>
              <a:t>2.三維模型的輔助測量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97280" y="5532120"/>
            <a:ext cx="7772400" cy="914400"/>
            <a:chOff x="0" y="0"/>
            <a:chExt cx="1036320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63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36320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0241280" y="0"/>
                  </a:lnTo>
                  <a:cubicBezTo>
                    <a:pt x="10308590" y="0"/>
                    <a:pt x="10363200" y="54610"/>
                    <a:pt x="10363200" y="121920"/>
                  </a:cubicBezTo>
                  <a:lnTo>
                    <a:pt x="10363200" y="1097280"/>
                  </a:lnTo>
                  <a:cubicBezTo>
                    <a:pt x="10363200" y="1164590"/>
                    <a:pt x="10308590" y="1219200"/>
                    <a:pt x="10241280" y="1219200"/>
                  </a:cubicBezTo>
                  <a:lnTo>
                    <a:pt x="121920" y="1219200"/>
                  </a:lnTo>
                  <a:cubicBezTo>
                    <a:pt x="54610" y="1219200"/>
                    <a:pt x="0" y="1164590"/>
                    <a:pt x="0" y="1097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01200" y="5532120"/>
            <a:ext cx="7589520" cy="914400"/>
            <a:chOff x="0" y="0"/>
            <a:chExt cx="1011936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19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11936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997440" y="0"/>
                  </a:lnTo>
                  <a:cubicBezTo>
                    <a:pt x="10064750" y="0"/>
                    <a:pt x="10119360" y="54610"/>
                    <a:pt x="10119360" y="121920"/>
                  </a:cubicBezTo>
                  <a:lnTo>
                    <a:pt x="10119360" y="1097280"/>
                  </a:lnTo>
                  <a:cubicBezTo>
                    <a:pt x="10119360" y="1164590"/>
                    <a:pt x="10064750" y="1219200"/>
                    <a:pt x="9997440" y="1219200"/>
                  </a:cubicBezTo>
                  <a:lnTo>
                    <a:pt x="121920" y="1219200"/>
                  </a:lnTo>
                  <a:cubicBezTo>
                    <a:pt x="54610" y="1219200"/>
                    <a:pt x="0" y="1164590"/>
                    <a:pt x="0" y="1097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81328" y="5751576"/>
            <a:ext cx="7050024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5171C"/>
                </a:solidFill>
                <a:latin typeface="Noto Sans"/>
                <a:ea typeface="Noto Sans"/>
                <a:cs typeface="Noto Sans"/>
                <a:sym typeface="Noto Sans"/>
              </a:rPr>
              <a:t>3.材料估算需人工處理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85248" y="5751576"/>
            <a:ext cx="6821424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5171C"/>
                </a:solidFill>
                <a:latin typeface="Noto Sans"/>
                <a:ea typeface="Noto Sans"/>
                <a:cs typeface="Noto Sans"/>
                <a:sym typeface="Noto Sans"/>
              </a:rPr>
              <a:t>3.AI去分配資源與整合流程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97280" y="7452360"/>
            <a:ext cx="11364896" cy="1371600"/>
            <a:chOff x="0" y="0"/>
            <a:chExt cx="15153195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153194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153194">
                  <a:moveTo>
                    <a:pt x="0" y="182880"/>
                  </a:moveTo>
                  <a:cubicBezTo>
                    <a:pt x="0" y="81915"/>
                    <a:pt x="57847" y="0"/>
                    <a:pt x="129147" y="0"/>
                  </a:cubicBezTo>
                  <a:lnTo>
                    <a:pt x="15024047" y="0"/>
                  </a:lnTo>
                  <a:cubicBezTo>
                    <a:pt x="15095347" y="0"/>
                    <a:pt x="15153194" y="81915"/>
                    <a:pt x="15153194" y="182880"/>
                  </a:cubicBezTo>
                  <a:lnTo>
                    <a:pt x="15153194" y="1645920"/>
                  </a:lnTo>
                  <a:cubicBezTo>
                    <a:pt x="15153194" y="1746885"/>
                    <a:pt x="15095347" y="1828800"/>
                    <a:pt x="15024047" y="1828800"/>
                  </a:cubicBezTo>
                  <a:lnTo>
                    <a:pt x="129147" y="1828800"/>
                  </a:lnTo>
                  <a:cubicBezTo>
                    <a:pt x="57847" y="1828800"/>
                    <a:pt x="0" y="1746885"/>
                    <a:pt x="0" y="1645920"/>
                  </a:cubicBezTo>
                  <a:close/>
                </a:path>
              </a:pathLst>
            </a:custGeom>
            <a:solidFill>
              <a:srgbClr val="E8ECF3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44168" y="7660796"/>
            <a:ext cx="15325344" cy="95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戰爭初期，空軍基地跑道常成為攻擊目標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快速應變與修復跑道，是恢復起降能力及反擊的重要關鍵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2688" y="536448"/>
            <a:ext cx="16422624" cy="1155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貳、設計構想暨 AI 技術運用說明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05840" y="2651760"/>
            <a:ext cx="3794760" cy="5303520"/>
            <a:chOff x="0" y="0"/>
            <a:chExt cx="5059680" cy="7071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59680" cy="7071361"/>
            </a:xfrm>
            <a:custGeom>
              <a:avLst/>
              <a:gdLst/>
              <a:ahLst/>
              <a:cxnLst/>
              <a:rect r="r" b="b" t="t" l="l"/>
              <a:pathLst>
                <a:path h="7071361" w="5059680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4553712" y="0"/>
                  </a:lnTo>
                  <a:cubicBezTo>
                    <a:pt x="4833112" y="0"/>
                    <a:pt x="5059680" y="226568"/>
                    <a:pt x="5059680" y="505968"/>
                  </a:cubicBezTo>
                  <a:lnTo>
                    <a:pt x="5059680" y="6565392"/>
                  </a:lnTo>
                  <a:cubicBezTo>
                    <a:pt x="5059680" y="6844792"/>
                    <a:pt x="4833112" y="7071361"/>
                    <a:pt x="4553712" y="7071361"/>
                  </a:cubicBezTo>
                  <a:lnTo>
                    <a:pt x="505968" y="7071361"/>
                  </a:lnTo>
                  <a:cubicBezTo>
                    <a:pt x="226568" y="7071360"/>
                    <a:pt x="0" y="6844792"/>
                    <a:pt x="0" y="65653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0160" y="2908173"/>
            <a:ext cx="877824" cy="612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7486A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0160" y="3636645"/>
            <a:ext cx="3255264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影像取得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0160" y="4761738"/>
            <a:ext cx="3255264" cy="77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E5C73"/>
                </a:solidFill>
                <a:latin typeface="Calibri (MS)"/>
                <a:ea typeface="Calibri (MS)"/>
                <a:cs typeface="Calibri (MS)"/>
                <a:sym typeface="Calibri (MS)"/>
              </a:rPr>
              <a:t>無人機拍攝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0160" y="5831586"/>
            <a:ext cx="3255264" cy="163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取得彈坑RGB影像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66360" y="2651760"/>
            <a:ext cx="3794760" cy="5303520"/>
            <a:chOff x="0" y="0"/>
            <a:chExt cx="5059680" cy="7071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59680" cy="7071361"/>
            </a:xfrm>
            <a:custGeom>
              <a:avLst/>
              <a:gdLst/>
              <a:ahLst/>
              <a:cxnLst/>
              <a:rect r="r" b="b" t="t" l="l"/>
              <a:pathLst>
                <a:path h="7071361" w="5059680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4553712" y="0"/>
                  </a:lnTo>
                  <a:cubicBezTo>
                    <a:pt x="4833112" y="0"/>
                    <a:pt x="5059680" y="226568"/>
                    <a:pt x="5059680" y="505968"/>
                  </a:cubicBezTo>
                  <a:lnTo>
                    <a:pt x="5059680" y="6565392"/>
                  </a:lnTo>
                  <a:cubicBezTo>
                    <a:pt x="5059680" y="6844792"/>
                    <a:pt x="4833112" y="7071361"/>
                    <a:pt x="4553712" y="7071361"/>
                  </a:cubicBezTo>
                  <a:lnTo>
                    <a:pt x="505968" y="7071361"/>
                  </a:lnTo>
                  <a:cubicBezTo>
                    <a:pt x="226568" y="7071360"/>
                    <a:pt x="0" y="6844792"/>
                    <a:pt x="0" y="65653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440680" y="2908173"/>
            <a:ext cx="877824" cy="612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7486A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0680" y="3636645"/>
            <a:ext cx="3255264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坑洞辨識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40680" y="4809363"/>
            <a:ext cx="3255264" cy="72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YOLO偵測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40680" y="5831586"/>
            <a:ext cx="3255264" cy="163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定位彈坑與範圍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6880" y="2651760"/>
            <a:ext cx="3794760" cy="5303520"/>
            <a:chOff x="0" y="0"/>
            <a:chExt cx="5059680" cy="7071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59680" cy="7071361"/>
            </a:xfrm>
            <a:custGeom>
              <a:avLst/>
              <a:gdLst/>
              <a:ahLst/>
              <a:cxnLst/>
              <a:rect r="r" b="b" t="t" l="l"/>
              <a:pathLst>
                <a:path h="7071361" w="5059680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4553712" y="0"/>
                  </a:lnTo>
                  <a:cubicBezTo>
                    <a:pt x="4833112" y="0"/>
                    <a:pt x="5059680" y="226568"/>
                    <a:pt x="5059680" y="505968"/>
                  </a:cubicBezTo>
                  <a:lnTo>
                    <a:pt x="5059680" y="6565392"/>
                  </a:lnTo>
                  <a:cubicBezTo>
                    <a:pt x="5059680" y="6844792"/>
                    <a:pt x="4833112" y="7071361"/>
                    <a:pt x="4553712" y="7071361"/>
                  </a:cubicBezTo>
                  <a:lnTo>
                    <a:pt x="505968" y="7071361"/>
                  </a:lnTo>
                  <a:cubicBezTo>
                    <a:pt x="226568" y="7071360"/>
                    <a:pt x="0" y="6844792"/>
                    <a:pt x="0" y="65653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01200" y="2908173"/>
            <a:ext cx="877824" cy="612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7486A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01200" y="3636645"/>
            <a:ext cx="3255264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幾何估算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1200" y="4809363"/>
            <a:ext cx="3255264" cy="72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3D模型重建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01200" y="5831586"/>
            <a:ext cx="3255264" cy="163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估算彈坑體積與損壞程度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487400" y="2651760"/>
            <a:ext cx="3794760" cy="5303520"/>
            <a:chOff x="0" y="0"/>
            <a:chExt cx="5059680" cy="7071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59680" cy="7071361"/>
            </a:xfrm>
            <a:custGeom>
              <a:avLst/>
              <a:gdLst/>
              <a:ahLst/>
              <a:cxnLst/>
              <a:rect r="r" b="b" t="t" l="l"/>
              <a:pathLst>
                <a:path h="7071361" w="5059680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4553712" y="0"/>
                  </a:lnTo>
                  <a:cubicBezTo>
                    <a:pt x="4833112" y="0"/>
                    <a:pt x="5059680" y="226568"/>
                    <a:pt x="5059680" y="505968"/>
                  </a:cubicBezTo>
                  <a:lnTo>
                    <a:pt x="5059680" y="6565392"/>
                  </a:lnTo>
                  <a:cubicBezTo>
                    <a:pt x="5059680" y="6844792"/>
                    <a:pt x="4833112" y="7071361"/>
                    <a:pt x="4553712" y="7071361"/>
                  </a:cubicBezTo>
                  <a:lnTo>
                    <a:pt x="505968" y="7071361"/>
                  </a:lnTo>
                  <a:cubicBezTo>
                    <a:pt x="226568" y="7071360"/>
                    <a:pt x="0" y="6844792"/>
                    <a:pt x="0" y="65653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761720" y="2908173"/>
            <a:ext cx="877824" cy="612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7486A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61720" y="3636645"/>
            <a:ext cx="3255264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資源調度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61720" y="4761738"/>
            <a:ext cx="3255264" cy="77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E5C73"/>
                </a:solidFill>
                <a:latin typeface="Calibri (MS)"/>
                <a:ea typeface="Calibri (MS)"/>
                <a:cs typeface="Calibri (MS)"/>
                <a:sym typeface="Calibri (MS)"/>
              </a:rPr>
              <a:t>資源調度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61720" y="5831586"/>
            <a:ext cx="3255264" cy="163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估算材料、人力與修復方案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2688" y="612648"/>
            <a:ext cx="16422624" cy="107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517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01影像取得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05840" y="2148840"/>
            <a:ext cx="7543800" cy="6537960"/>
            <a:chOff x="0" y="0"/>
            <a:chExt cx="10058400" cy="871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0" cy="8717280"/>
            </a:xfrm>
            <a:custGeom>
              <a:avLst/>
              <a:gdLst/>
              <a:ahLst/>
              <a:cxnLst/>
              <a:rect r="r" b="b" t="t" l="l"/>
              <a:pathLst>
                <a:path h="8717280" w="10058400">
                  <a:moveTo>
                    <a:pt x="0" y="871728"/>
                  </a:moveTo>
                  <a:cubicBezTo>
                    <a:pt x="0" y="390271"/>
                    <a:pt x="390271" y="0"/>
                    <a:pt x="871728" y="0"/>
                  </a:cubicBezTo>
                  <a:lnTo>
                    <a:pt x="9186672" y="0"/>
                  </a:lnTo>
                  <a:cubicBezTo>
                    <a:pt x="9668129" y="0"/>
                    <a:pt x="10058400" y="390271"/>
                    <a:pt x="10058400" y="871728"/>
                  </a:cubicBezTo>
                  <a:lnTo>
                    <a:pt x="10058400" y="7845552"/>
                  </a:lnTo>
                  <a:cubicBezTo>
                    <a:pt x="10058400" y="8327009"/>
                    <a:pt x="9668129" y="8717280"/>
                    <a:pt x="9186672" y="8717280"/>
                  </a:cubicBezTo>
                  <a:lnTo>
                    <a:pt x="871728" y="8717280"/>
                  </a:lnTo>
                  <a:cubicBezTo>
                    <a:pt x="390271" y="8717280"/>
                    <a:pt x="0" y="8327009"/>
                    <a:pt x="0" y="78455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98448" y="2374773"/>
            <a:ext cx="6912864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衛星圖: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8448" y="3252978"/>
            <a:ext cx="6867144" cy="141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無法精確地辨識坑洞的體積與深度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70432" y="4782312"/>
            <a:ext cx="7214616" cy="3694176"/>
            <a:chOff x="0" y="0"/>
            <a:chExt cx="9619488" cy="49255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19488" cy="4925568"/>
            </a:xfrm>
            <a:custGeom>
              <a:avLst/>
              <a:gdLst/>
              <a:ahLst/>
              <a:cxnLst/>
              <a:rect r="r" b="b" t="t" l="l"/>
              <a:pathLst>
                <a:path h="4925568" w="9619488">
                  <a:moveTo>
                    <a:pt x="0" y="492506"/>
                  </a:moveTo>
                  <a:cubicBezTo>
                    <a:pt x="0" y="220472"/>
                    <a:pt x="220472" y="0"/>
                    <a:pt x="492506" y="0"/>
                  </a:cubicBezTo>
                  <a:lnTo>
                    <a:pt x="9126982" y="0"/>
                  </a:lnTo>
                  <a:cubicBezTo>
                    <a:pt x="9399015" y="0"/>
                    <a:pt x="9619488" y="220472"/>
                    <a:pt x="9619488" y="492506"/>
                  </a:cubicBezTo>
                  <a:lnTo>
                    <a:pt x="9619488" y="4433062"/>
                  </a:lnTo>
                  <a:cubicBezTo>
                    <a:pt x="9619488" y="4705096"/>
                    <a:pt x="9399015" y="4925568"/>
                    <a:pt x="9126982" y="4925568"/>
                  </a:cubicBezTo>
                  <a:lnTo>
                    <a:pt x="492506" y="4925568"/>
                  </a:lnTo>
                  <a:cubicBezTo>
                    <a:pt x="220472" y="4925568"/>
                    <a:pt x="0" y="4705096"/>
                    <a:pt x="0" y="44330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25879" y="4645152"/>
            <a:ext cx="5322980" cy="3474720"/>
            <a:chOff x="0" y="0"/>
            <a:chExt cx="7097306" cy="4632960"/>
          </a:xfrm>
        </p:grpSpPr>
        <p:sp>
          <p:nvSpPr>
            <p:cNvPr name="Freeform 13" id="13" descr="image.jpg"/>
            <p:cNvSpPr/>
            <p:nvPr/>
          </p:nvSpPr>
          <p:spPr>
            <a:xfrm flipH="false" flipV="false" rot="0">
              <a:off x="0" y="0"/>
              <a:ext cx="7097268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97268">
                  <a:moveTo>
                    <a:pt x="0" y="0"/>
                  </a:moveTo>
                  <a:lnTo>
                    <a:pt x="7097268" y="0"/>
                  </a:lnTo>
                  <a:lnTo>
                    <a:pt x="7097268" y="4632960"/>
                  </a:lnTo>
                  <a:lnTo>
                    <a:pt x="0" y="463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92640" y="2148840"/>
            <a:ext cx="7543800" cy="6537960"/>
            <a:chOff x="0" y="0"/>
            <a:chExt cx="10058400" cy="871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0" cy="8717280"/>
            </a:xfrm>
            <a:custGeom>
              <a:avLst/>
              <a:gdLst/>
              <a:ahLst/>
              <a:cxnLst/>
              <a:rect r="r" b="b" t="t" l="l"/>
              <a:pathLst>
                <a:path h="8717280" w="10058400">
                  <a:moveTo>
                    <a:pt x="0" y="871728"/>
                  </a:moveTo>
                  <a:cubicBezTo>
                    <a:pt x="0" y="390271"/>
                    <a:pt x="390271" y="0"/>
                    <a:pt x="871728" y="0"/>
                  </a:cubicBezTo>
                  <a:lnTo>
                    <a:pt x="9186672" y="0"/>
                  </a:lnTo>
                  <a:cubicBezTo>
                    <a:pt x="9668129" y="0"/>
                    <a:pt x="10058400" y="390271"/>
                    <a:pt x="10058400" y="871728"/>
                  </a:cubicBezTo>
                  <a:lnTo>
                    <a:pt x="10058400" y="7845552"/>
                  </a:lnTo>
                  <a:cubicBezTo>
                    <a:pt x="10058400" y="8327009"/>
                    <a:pt x="9668129" y="8717280"/>
                    <a:pt x="9186672" y="8717280"/>
                  </a:cubicBezTo>
                  <a:lnTo>
                    <a:pt x="871728" y="8717280"/>
                  </a:lnTo>
                  <a:cubicBezTo>
                    <a:pt x="390271" y="8717280"/>
                    <a:pt x="0" y="8327009"/>
                    <a:pt x="0" y="784555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985248" y="2374773"/>
            <a:ext cx="6912864" cy="6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無人機拍攝: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85248" y="3252978"/>
            <a:ext cx="6867144" cy="141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可經由近距離的拍攝多張照片或錄影，達到分析體積與深度的成效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57232" y="4782312"/>
            <a:ext cx="7214616" cy="3694176"/>
            <a:chOff x="0" y="0"/>
            <a:chExt cx="9619488" cy="4925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19488" cy="4925568"/>
            </a:xfrm>
            <a:custGeom>
              <a:avLst/>
              <a:gdLst/>
              <a:ahLst/>
              <a:cxnLst/>
              <a:rect r="r" b="b" t="t" l="l"/>
              <a:pathLst>
                <a:path h="4925568" w="9619488">
                  <a:moveTo>
                    <a:pt x="0" y="492506"/>
                  </a:moveTo>
                  <a:cubicBezTo>
                    <a:pt x="0" y="220472"/>
                    <a:pt x="220472" y="0"/>
                    <a:pt x="492506" y="0"/>
                  </a:cubicBezTo>
                  <a:lnTo>
                    <a:pt x="9126982" y="0"/>
                  </a:lnTo>
                  <a:cubicBezTo>
                    <a:pt x="9399015" y="0"/>
                    <a:pt x="9619488" y="220472"/>
                    <a:pt x="9619488" y="492506"/>
                  </a:cubicBezTo>
                  <a:lnTo>
                    <a:pt x="9619488" y="4433062"/>
                  </a:lnTo>
                  <a:cubicBezTo>
                    <a:pt x="9619488" y="4705096"/>
                    <a:pt x="9399015" y="4925568"/>
                    <a:pt x="9126982" y="4925568"/>
                  </a:cubicBezTo>
                  <a:lnTo>
                    <a:pt x="492506" y="4925568"/>
                  </a:lnTo>
                  <a:cubicBezTo>
                    <a:pt x="220472" y="4925568"/>
                    <a:pt x="0" y="4705096"/>
                    <a:pt x="0" y="44330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532985" y="4645152"/>
            <a:ext cx="5258410" cy="3474720"/>
            <a:chOff x="0" y="0"/>
            <a:chExt cx="7011213" cy="4632960"/>
          </a:xfrm>
        </p:grpSpPr>
        <p:sp>
          <p:nvSpPr>
            <p:cNvPr name="Freeform 21" id="21" descr="image.jpg"/>
            <p:cNvSpPr/>
            <p:nvPr/>
          </p:nvSpPr>
          <p:spPr>
            <a:xfrm flipH="false" flipV="false" rot="0">
              <a:off x="0" y="0"/>
              <a:ext cx="7011162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11162">
                  <a:moveTo>
                    <a:pt x="0" y="0"/>
                  </a:moveTo>
                  <a:lnTo>
                    <a:pt x="7011162" y="0"/>
                  </a:lnTo>
                  <a:lnTo>
                    <a:pt x="7011162" y="4632960"/>
                  </a:lnTo>
                  <a:lnTo>
                    <a:pt x="0" y="463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05840" y="2834640"/>
          <a:ext cx="10401300" cy="4165600"/>
        </p:xfrm>
        <a:graphic>
          <a:graphicData uri="http://schemas.openxmlformats.org/drawingml/2006/table">
            <a:tbl>
              <a:tblPr/>
              <a:tblGrid>
                <a:gridCol w="2496312"/>
                <a:gridCol w="4680585"/>
                <a:gridCol w="3224403"/>
              </a:tblGrid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資料設計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89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蒐集重點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89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目的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895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彈坑正例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不同光線、角度與大小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辨識彈坑特徵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非彈坑反例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路面坑洞等相似外觀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降低誤判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4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無人機影像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同一坑洞的多角度照片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補充辨識資訊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1005840" y="7452360"/>
            <a:ext cx="10424160" cy="1325880"/>
            <a:chOff x="0" y="0"/>
            <a:chExt cx="13898880" cy="1767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98880" cy="1767840"/>
            </a:xfrm>
            <a:custGeom>
              <a:avLst/>
              <a:gdLst/>
              <a:ahLst/>
              <a:cxnLst/>
              <a:rect r="r" b="b" t="t" l="l"/>
              <a:pathLst>
                <a:path h="1767840" w="13898880">
                  <a:moveTo>
                    <a:pt x="0" y="176784"/>
                  </a:moveTo>
                  <a:cubicBezTo>
                    <a:pt x="0" y="79121"/>
                    <a:pt x="79121" y="0"/>
                    <a:pt x="176784" y="0"/>
                  </a:cubicBezTo>
                  <a:lnTo>
                    <a:pt x="13722096" y="0"/>
                  </a:lnTo>
                  <a:cubicBezTo>
                    <a:pt x="13819760" y="0"/>
                    <a:pt x="13898880" y="79121"/>
                    <a:pt x="13898880" y="176784"/>
                  </a:cubicBezTo>
                  <a:lnTo>
                    <a:pt x="13898880" y="1591056"/>
                  </a:lnTo>
                  <a:cubicBezTo>
                    <a:pt x="13898880" y="1688719"/>
                    <a:pt x="13819760" y="1767840"/>
                    <a:pt x="13722096" y="1767840"/>
                  </a:cubicBezTo>
                  <a:lnTo>
                    <a:pt x="176784" y="1767840"/>
                  </a:lnTo>
                  <a:cubicBezTo>
                    <a:pt x="79121" y="1767840"/>
                    <a:pt x="0" y="1688719"/>
                    <a:pt x="0" y="15910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719105" y="1508527"/>
            <a:ext cx="3986983" cy="3109048"/>
            <a:chOff x="0" y="0"/>
            <a:chExt cx="1747864" cy="13629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47864" cy="1362984"/>
            </a:xfrm>
            <a:custGeom>
              <a:avLst/>
              <a:gdLst/>
              <a:ahLst/>
              <a:cxnLst/>
              <a:rect r="r" b="b" t="t" l="l"/>
              <a:pathLst>
                <a:path h="1362984" w="1747864">
                  <a:moveTo>
                    <a:pt x="1641354" y="1362984"/>
                  </a:moveTo>
                  <a:lnTo>
                    <a:pt x="106510" y="1362984"/>
                  </a:lnTo>
                  <a:cubicBezTo>
                    <a:pt x="47793" y="1362984"/>
                    <a:pt x="0" y="1336642"/>
                    <a:pt x="0" y="1304280"/>
                  </a:cubicBezTo>
                  <a:lnTo>
                    <a:pt x="0" y="58704"/>
                  </a:lnTo>
                  <a:cubicBezTo>
                    <a:pt x="0" y="26341"/>
                    <a:pt x="47793" y="0"/>
                    <a:pt x="106510" y="0"/>
                  </a:cubicBezTo>
                  <a:lnTo>
                    <a:pt x="1641354" y="0"/>
                  </a:lnTo>
                  <a:cubicBezTo>
                    <a:pt x="1700071" y="0"/>
                    <a:pt x="1747864" y="26341"/>
                    <a:pt x="1747864" y="58704"/>
                  </a:cubicBezTo>
                  <a:lnTo>
                    <a:pt x="1747864" y="1304280"/>
                  </a:lnTo>
                  <a:cubicBezTo>
                    <a:pt x="1747864" y="1336642"/>
                    <a:pt x="1700071" y="1362984"/>
                    <a:pt x="1641354" y="1362984"/>
                  </a:cubicBezTo>
                  <a:close/>
                </a:path>
              </a:pathLst>
            </a:custGeom>
            <a:blipFill>
              <a:blip r:embed="rId3"/>
              <a:stretch>
                <a:fillRect l="-17808" t="0" r="-1780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719105" y="5504688"/>
            <a:ext cx="4035185" cy="2729865"/>
            <a:chOff x="0" y="0"/>
            <a:chExt cx="1625600" cy="10997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25600" cy="1099744"/>
            </a:xfrm>
            <a:custGeom>
              <a:avLst/>
              <a:gdLst/>
              <a:ahLst/>
              <a:cxnLst/>
              <a:rect r="r" b="b" t="t" l="l"/>
              <a:pathLst>
                <a:path h="1099744" w="1625600">
                  <a:moveTo>
                    <a:pt x="1526540" y="1099744"/>
                  </a:moveTo>
                  <a:lnTo>
                    <a:pt x="99060" y="1099744"/>
                  </a:lnTo>
                  <a:cubicBezTo>
                    <a:pt x="44450" y="1099744"/>
                    <a:pt x="0" y="1078490"/>
                    <a:pt x="0" y="1052378"/>
                  </a:cubicBezTo>
                  <a:lnTo>
                    <a:pt x="0" y="47366"/>
                  </a:lnTo>
                  <a:cubicBezTo>
                    <a:pt x="0" y="21254"/>
                    <a:pt x="44450" y="0"/>
                    <a:pt x="99060" y="0"/>
                  </a:cubicBezTo>
                  <a:lnTo>
                    <a:pt x="1526540" y="0"/>
                  </a:lnTo>
                  <a:cubicBezTo>
                    <a:pt x="1581150" y="0"/>
                    <a:pt x="1625600" y="21254"/>
                    <a:pt x="1625600" y="47366"/>
                  </a:cubicBezTo>
                  <a:lnTo>
                    <a:pt x="1625600" y="1052378"/>
                  </a:lnTo>
                  <a:cubicBezTo>
                    <a:pt x="1625600" y="1078490"/>
                    <a:pt x="1581150" y="1099744"/>
                    <a:pt x="1526540" y="1099744"/>
                  </a:cubicBezTo>
                  <a:close/>
                </a:path>
              </a:pathLst>
            </a:custGeom>
            <a:blipFill>
              <a:blip r:embed="rId4"/>
              <a:stretch>
                <a:fillRect l="0" t="-111215" r="0" b="-11064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32688" y="612648"/>
            <a:ext cx="16422624" cy="107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517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 坑洞辨識｜讓 YOLO 學會區分彈坑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848" y="1789938"/>
            <a:ext cx="10936224" cy="72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核心方法：正例＋反例＋多角度影像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8448" y="7587234"/>
            <a:ext cx="9838944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建立YOLO資料集、無人機影像輔助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專門訓練分辨彈坑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71248" y="4936236"/>
            <a:ext cx="4809744" cy="56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正例示意：彈坑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71248" y="8493252"/>
            <a:ext cx="4809744" cy="56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反例示意：路面坑洞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2688" y="612648"/>
            <a:ext cx="16422624" cy="107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517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 幾何估算｜以 3DGS 加速重建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05840" y="3337560"/>
          <a:ext cx="7670800" cy="3200400"/>
        </p:xfrm>
        <a:graphic>
          <a:graphicData uri="http://schemas.openxmlformats.org/drawingml/2006/table">
            <a:tbl>
              <a:tblPr/>
              <a:tblGrid>
                <a:gridCol w="3375152"/>
                <a:gridCol w="4295648"/>
              </a:tblGrid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方法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89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重建時間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895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傳統 3D 建模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估計：幾小時至半天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5171C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3DGS 實景重建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517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預期目標：幾分鐘</a:t>
                      </a:r>
                      <a:endParaRPr lang="en-US" sz="1100"/>
                    </a:p>
                  </a:txBody>
                  <a:tcPr marL="164592" marR="164592" marT="164592" marB="16459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4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9773917" y="3200400"/>
            <a:ext cx="7152637" cy="4023360"/>
            <a:chOff x="0" y="0"/>
            <a:chExt cx="9536849" cy="5364480"/>
          </a:xfrm>
        </p:grpSpPr>
        <p:sp>
          <p:nvSpPr>
            <p:cNvPr name="Freeform 8" id="8" descr="image.jpg"/>
            <p:cNvSpPr/>
            <p:nvPr/>
          </p:nvSpPr>
          <p:spPr>
            <a:xfrm flipH="false" flipV="false" rot="0">
              <a:off x="0" y="0"/>
              <a:ext cx="9536811" cy="5364480"/>
            </a:xfrm>
            <a:custGeom>
              <a:avLst/>
              <a:gdLst/>
              <a:ahLst/>
              <a:cxnLst/>
              <a:rect r="r" b="b" t="t" l="l"/>
              <a:pathLst>
                <a:path h="5364480" w="9536811">
                  <a:moveTo>
                    <a:pt x="0" y="0"/>
                  </a:moveTo>
                  <a:lnTo>
                    <a:pt x="9536811" y="0"/>
                  </a:lnTo>
                  <a:lnTo>
                    <a:pt x="9536811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19488" y="7461123"/>
            <a:ext cx="7461504" cy="63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Noto Sans"/>
                <a:ea typeface="Noto Sans"/>
                <a:cs typeface="Noto Sans"/>
                <a:sym typeface="Noto Sans"/>
              </a:rPr>
              <a:t>3D 模型示意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2688" y="7724013"/>
            <a:ext cx="8537773" cy="1124665"/>
            <a:chOff x="0" y="0"/>
            <a:chExt cx="11383697" cy="14995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83697" cy="1499554"/>
            </a:xfrm>
            <a:custGeom>
              <a:avLst/>
              <a:gdLst/>
              <a:ahLst/>
              <a:cxnLst/>
              <a:rect r="r" b="b" t="t" l="l"/>
              <a:pathLst>
                <a:path h="1499554" w="11383697">
                  <a:moveTo>
                    <a:pt x="0" y="149955"/>
                  </a:moveTo>
                  <a:cubicBezTo>
                    <a:pt x="0" y="67114"/>
                    <a:pt x="64803" y="0"/>
                    <a:pt x="144793" y="0"/>
                  </a:cubicBezTo>
                  <a:lnTo>
                    <a:pt x="11238904" y="0"/>
                  </a:lnTo>
                  <a:cubicBezTo>
                    <a:pt x="11318894" y="0"/>
                    <a:pt x="11383697" y="67114"/>
                    <a:pt x="11383697" y="149955"/>
                  </a:cubicBezTo>
                  <a:lnTo>
                    <a:pt x="11383697" y="1349598"/>
                  </a:lnTo>
                  <a:cubicBezTo>
                    <a:pt x="11383697" y="1432440"/>
                    <a:pt x="11318894" y="1499554"/>
                    <a:pt x="11238904" y="1499554"/>
                  </a:cubicBezTo>
                  <a:lnTo>
                    <a:pt x="144793" y="1499554"/>
                  </a:lnTo>
                  <a:cubicBezTo>
                    <a:pt x="64803" y="1499554"/>
                    <a:pt x="0" y="1432440"/>
                    <a:pt x="0" y="134959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7781544"/>
            <a:ext cx="8366760" cy="996696"/>
            <a:chOff x="0" y="0"/>
            <a:chExt cx="11155680" cy="1328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55680" cy="1328928"/>
            </a:xfrm>
            <a:custGeom>
              <a:avLst/>
              <a:gdLst/>
              <a:ahLst/>
              <a:cxnLst/>
              <a:rect r="r" b="b" t="t" l="l"/>
              <a:pathLst>
                <a:path h="1328928" w="11155680">
                  <a:moveTo>
                    <a:pt x="0" y="132893"/>
                  </a:moveTo>
                  <a:cubicBezTo>
                    <a:pt x="0" y="59477"/>
                    <a:pt x="63505" y="0"/>
                    <a:pt x="141892" y="0"/>
                  </a:cubicBezTo>
                  <a:lnTo>
                    <a:pt x="11013787" y="0"/>
                  </a:lnTo>
                  <a:cubicBezTo>
                    <a:pt x="11092176" y="0"/>
                    <a:pt x="11155680" y="59477"/>
                    <a:pt x="11155680" y="132893"/>
                  </a:cubicBezTo>
                  <a:lnTo>
                    <a:pt x="11155680" y="1196035"/>
                  </a:lnTo>
                  <a:cubicBezTo>
                    <a:pt x="11155680" y="1269451"/>
                    <a:pt x="11092176" y="1328928"/>
                    <a:pt x="11013787" y="1328928"/>
                  </a:cubicBezTo>
                  <a:lnTo>
                    <a:pt x="141892" y="1328928"/>
                  </a:lnTo>
                  <a:cubicBezTo>
                    <a:pt x="63505" y="1328928"/>
                    <a:pt x="0" y="1269451"/>
                    <a:pt x="0" y="119603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89888" y="8058150"/>
            <a:ext cx="1596542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目標：縮短重建等待時間，支援快速災損評估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2688" y="612648"/>
            <a:ext cx="16422624" cy="107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517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04資源調度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05840" y="2743200"/>
            <a:ext cx="3794760" cy="5074920"/>
            <a:chOff x="0" y="0"/>
            <a:chExt cx="5059680" cy="6766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59680" cy="6766560"/>
            </a:xfrm>
            <a:custGeom>
              <a:avLst/>
              <a:gdLst/>
              <a:ahLst/>
              <a:cxnLst/>
              <a:rect r="r" b="b" t="t" l="l"/>
              <a:pathLst>
                <a:path h="6766560" w="5059680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4553712" y="0"/>
                  </a:lnTo>
                  <a:cubicBezTo>
                    <a:pt x="4833112" y="0"/>
                    <a:pt x="5059680" y="226568"/>
                    <a:pt x="5059680" y="505968"/>
                  </a:cubicBezTo>
                  <a:lnTo>
                    <a:pt x="5059680" y="6260592"/>
                  </a:lnTo>
                  <a:cubicBezTo>
                    <a:pt x="5059680" y="6539992"/>
                    <a:pt x="4833112" y="6766560"/>
                    <a:pt x="4553712" y="6766560"/>
                  </a:cubicBezTo>
                  <a:lnTo>
                    <a:pt x="505968" y="6766560"/>
                  </a:lnTo>
                  <a:cubicBezTo>
                    <a:pt x="226568" y="6766560"/>
                    <a:pt x="0" y="6539992"/>
                    <a:pt x="0" y="6260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98448" y="3081528"/>
            <a:ext cx="877824" cy="62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7486A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8448" y="4020693"/>
            <a:ext cx="3209544" cy="73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損害評估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8448" y="5276088"/>
            <a:ext cx="3209544" cy="199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5171C"/>
                </a:solidFill>
                <a:latin typeface="Noto Sans"/>
                <a:ea typeface="Noto Sans"/>
                <a:cs typeface="Noto Sans"/>
                <a:sym typeface="Noto Sans"/>
              </a:rPr>
              <a:t>AI分析彈坑尺寸、深度與體積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66360" y="2743200"/>
            <a:ext cx="3794760" cy="5074920"/>
            <a:chOff x="0" y="0"/>
            <a:chExt cx="5059680" cy="6766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59680" cy="6766560"/>
            </a:xfrm>
            <a:custGeom>
              <a:avLst/>
              <a:gdLst/>
              <a:ahLst/>
              <a:cxnLst/>
              <a:rect r="r" b="b" t="t" l="l"/>
              <a:pathLst>
                <a:path h="6766560" w="5059680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4553712" y="0"/>
                  </a:lnTo>
                  <a:cubicBezTo>
                    <a:pt x="4833112" y="0"/>
                    <a:pt x="5059680" y="226568"/>
                    <a:pt x="5059680" y="505968"/>
                  </a:cubicBezTo>
                  <a:lnTo>
                    <a:pt x="5059680" y="6260592"/>
                  </a:lnTo>
                  <a:cubicBezTo>
                    <a:pt x="5059680" y="6539992"/>
                    <a:pt x="4833112" y="6766560"/>
                    <a:pt x="4553712" y="6766560"/>
                  </a:cubicBezTo>
                  <a:lnTo>
                    <a:pt x="505968" y="6766560"/>
                  </a:lnTo>
                  <a:cubicBezTo>
                    <a:pt x="226568" y="6766560"/>
                    <a:pt x="0" y="6539992"/>
                    <a:pt x="0" y="6260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458968" y="3081528"/>
            <a:ext cx="877824" cy="62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7486A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58968" y="4020693"/>
            <a:ext cx="3209544" cy="73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材料估算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58968" y="5209413"/>
            <a:ext cx="3209544" cy="2060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估算水泥、瀝青等材料需求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26880" y="2743200"/>
            <a:ext cx="3794760" cy="5074920"/>
            <a:chOff x="0" y="0"/>
            <a:chExt cx="5059680" cy="6766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59680" cy="6766560"/>
            </a:xfrm>
            <a:custGeom>
              <a:avLst/>
              <a:gdLst/>
              <a:ahLst/>
              <a:cxnLst/>
              <a:rect r="r" b="b" t="t" l="l"/>
              <a:pathLst>
                <a:path h="6766560" w="5059680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4553712" y="0"/>
                  </a:lnTo>
                  <a:cubicBezTo>
                    <a:pt x="4833112" y="0"/>
                    <a:pt x="5059680" y="226568"/>
                    <a:pt x="5059680" y="505968"/>
                  </a:cubicBezTo>
                  <a:lnTo>
                    <a:pt x="5059680" y="6260592"/>
                  </a:lnTo>
                  <a:cubicBezTo>
                    <a:pt x="5059680" y="6539992"/>
                    <a:pt x="4833112" y="6766560"/>
                    <a:pt x="4553712" y="6766560"/>
                  </a:cubicBezTo>
                  <a:lnTo>
                    <a:pt x="505968" y="6766560"/>
                  </a:lnTo>
                  <a:cubicBezTo>
                    <a:pt x="226568" y="6766560"/>
                    <a:pt x="0" y="6539992"/>
                    <a:pt x="0" y="6260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619488" y="3081528"/>
            <a:ext cx="877824" cy="62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7486A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19488" y="4020693"/>
            <a:ext cx="3209544" cy="73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資源分配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19488" y="5209413"/>
            <a:ext cx="3209544" cy="2060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規劃人力、設備與修復方案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487400" y="2743200"/>
            <a:ext cx="3794760" cy="5074920"/>
            <a:chOff x="0" y="0"/>
            <a:chExt cx="5059680" cy="6766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59680" cy="6766560"/>
            </a:xfrm>
            <a:custGeom>
              <a:avLst/>
              <a:gdLst/>
              <a:ahLst/>
              <a:cxnLst/>
              <a:rect r="r" b="b" t="t" l="l"/>
              <a:pathLst>
                <a:path h="6766560" w="5059680">
                  <a:moveTo>
                    <a:pt x="0" y="505968"/>
                  </a:moveTo>
                  <a:cubicBezTo>
                    <a:pt x="0" y="226568"/>
                    <a:pt x="226568" y="0"/>
                    <a:pt x="505968" y="0"/>
                  </a:cubicBezTo>
                  <a:lnTo>
                    <a:pt x="4553712" y="0"/>
                  </a:lnTo>
                  <a:cubicBezTo>
                    <a:pt x="4833112" y="0"/>
                    <a:pt x="5059680" y="226568"/>
                    <a:pt x="5059680" y="505968"/>
                  </a:cubicBezTo>
                  <a:lnTo>
                    <a:pt x="5059680" y="6260592"/>
                  </a:lnTo>
                  <a:cubicBezTo>
                    <a:pt x="5059680" y="6539992"/>
                    <a:pt x="4833112" y="6766560"/>
                    <a:pt x="4553712" y="6766560"/>
                  </a:cubicBezTo>
                  <a:lnTo>
                    <a:pt x="505968" y="6766560"/>
                  </a:lnTo>
                  <a:cubicBezTo>
                    <a:pt x="226568" y="6766560"/>
                    <a:pt x="0" y="6539992"/>
                    <a:pt x="0" y="6260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780008" y="3081528"/>
            <a:ext cx="877824" cy="62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7486A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80008" y="4020693"/>
            <a:ext cx="3209544" cy="73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修復排序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80008" y="5209413"/>
            <a:ext cx="3209544" cy="2060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依損害程度與重要性排序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2688" y="612648"/>
            <a:ext cx="16422624" cy="107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517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04資源調度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128" y="1816608"/>
            <a:ext cx="1605686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飛機最小起降帶評估: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05840" y="3291840"/>
            <a:ext cx="4572000" cy="3703320"/>
            <a:chOff x="0" y="0"/>
            <a:chExt cx="6096000" cy="4937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96000" cy="4937760"/>
            </a:xfrm>
            <a:custGeom>
              <a:avLst/>
              <a:gdLst/>
              <a:ahLst/>
              <a:cxnLst/>
              <a:rect r="r" b="b" t="t" l="l"/>
              <a:pathLst>
                <a:path h="4937760" w="6096000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lnTo>
                    <a:pt x="5602224" y="0"/>
                  </a:lnTo>
                  <a:cubicBezTo>
                    <a:pt x="5874893" y="0"/>
                    <a:pt x="6096000" y="221107"/>
                    <a:pt x="6096000" y="493776"/>
                  </a:cubicBezTo>
                  <a:lnTo>
                    <a:pt x="6096000" y="4443984"/>
                  </a:lnTo>
                  <a:cubicBezTo>
                    <a:pt x="6096000" y="4716653"/>
                    <a:pt x="5874893" y="4937760"/>
                    <a:pt x="5602224" y="4937760"/>
                  </a:cubicBezTo>
                  <a:lnTo>
                    <a:pt x="493776" y="4937760"/>
                  </a:lnTo>
                  <a:cubicBezTo>
                    <a:pt x="221107" y="4937760"/>
                    <a:pt x="0" y="4716653"/>
                    <a:pt x="0" y="44439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98448" y="3584448"/>
            <a:ext cx="877824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7486A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8448" y="4295013"/>
            <a:ext cx="3986784" cy="77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通行條件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8448" y="5310378"/>
            <a:ext cx="3986784" cy="1319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長度、寬度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連續性與障礙限制</a:t>
            </a:r>
          </a:p>
          <a:p>
            <a:pPr algn="l">
              <a:lnSpc>
                <a:spcPts val="3240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6858000" y="3291840"/>
            <a:ext cx="4572000" cy="3703320"/>
            <a:chOff x="0" y="0"/>
            <a:chExt cx="6096000" cy="4937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000" cy="4937760"/>
            </a:xfrm>
            <a:custGeom>
              <a:avLst/>
              <a:gdLst/>
              <a:ahLst/>
              <a:cxnLst/>
              <a:rect r="r" b="b" t="t" l="l"/>
              <a:pathLst>
                <a:path h="4937760" w="6096000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lnTo>
                    <a:pt x="5602224" y="0"/>
                  </a:lnTo>
                  <a:cubicBezTo>
                    <a:pt x="5874893" y="0"/>
                    <a:pt x="6096000" y="221107"/>
                    <a:pt x="6096000" y="493776"/>
                  </a:cubicBezTo>
                  <a:lnTo>
                    <a:pt x="6096000" y="4443984"/>
                  </a:lnTo>
                  <a:cubicBezTo>
                    <a:pt x="6096000" y="4716653"/>
                    <a:pt x="5874893" y="4937760"/>
                    <a:pt x="5602224" y="4937760"/>
                  </a:cubicBezTo>
                  <a:lnTo>
                    <a:pt x="493776" y="4937760"/>
                  </a:lnTo>
                  <a:cubicBezTo>
                    <a:pt x="221107" y="4937760"/>
                    <a:pt x="0" y="4716653"/>
                    <a:pt x="0" y="44439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150608" y="3584448"/>
            <a:ext cx="877824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7486A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0608" y="4295013"/>
            <a:ext cx="3986784" cy="77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資源可行性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50608" y="5310378"/>
            <a:ext cx="3986784" cy="1319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材料、工班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機具與可用時段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710160" y="3291840"/>
            <a:ext cx="4572000" cy="3703320"/>
            <a:chOff x="0" y="0"/>
            <a:chExt cx="6096000" cy="4937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0" cy="4937760"/>
            </a:xfrm>
            <a:custGeom>
              <a:avLst/>
              <a:gdLst/>
              <a:ahLst/>
              <a:cxnLst/>
              <a:rect r="r" b="b" t="t" l="l"/>
              <a:pathLst>
                <a:path h="4937760" w="6096000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lnTo>
                    <a:pt x="5602224" y="0"/>
                  </a:lnTo>
                  <a:cubicBezTo>
                    <a:pt x="5874893" y="0"/>
                    <a:pt x="6096000" y="221107"/>
                    <a:pt x="6096000" y="493776"/>
                  </a:cubicBezTo>
                  <a:lnTo>
                    <a:pt x="6096000" y="4443984"/>
                  </a:lnTo>
                  <a:cubicBezTo>
                    <a:pt x="6096000" y="4716653"/>
                    <a:pt x="5874893" y="4937760"/>
                    <a:pt x="5602224" y="4937760"/>
                  </a:cubicBezTo>
                  <a:lnTo>
                    <a:pt x="493776" y="4937760"/>
                  </a:lnTo>
                  <a:cubicBezTo>
                    <a:pt x="221107" y="4937760"/>
                    <a:pt x="0" y="4716653"/>
                    <a:pt x="0" y="44439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002768" y="3584448"/>
            <a:ext cx="877824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true">
                <a:solidFill>
                  <a:srgbClr val="7486A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02768" y="4295013"/>
            <a:ext cx="3986784" cy="77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恢復時間比較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02768" y="5310378"/>
            <a:ext cx="3986784" cy="1319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工序、等待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運輸與覆核條件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79008" y="4773168"/>
            <a:ext cx="694944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31168" y="4773168"/>
            <a:ext cx="694944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05840" y="7680960"/>
            <a:ext cx="9359567" cy="1005840"/>
            <a:chOff x="0" y="0"/>
            <a:chExt cx="12479423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4794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2479424">
                  <a:moveTo>
                    <a:pt x="0" y="134112"/>
                  </a:moveTo>
                  <a:cubicBezTo>
                    <a:pt x="0" y="60071"/>
                    <a:pt x="34543" y="0"/>
                    <a:pt x="77120" y="0"/>
                  </a:cubicBezTo>
                  <a:lnTo>
                    <a:pt x="12402303" y="0"/>
                  </a:lnTo>
                  <a:cubicBezTo>
                    <a:pt x="12444879" y="0"/>
                    <a:pt x="12479424" y="60071"/>
                    <a:pt x="12479424" y="134112"/>
                  </a:cubicBezTo>
                  <a:lnTo>
                    <a:pt x="12479424" y="1207008"/>
                  </a:lnTo>
                  <a:cubicBezTo>
                    <a:pt x="12479424" y="1281049"/>
                    <a:pt x="12444879" y="1341120"/>
                    <a:pt x="12402303" y="1341120"/>
                  </a:cubicBezTo>
                  <a:lnTo>
                    <a:pt x="77120" y="1341120"/>
                  </a:lnTo>
                  <a:cubicBezTo>
                    <a:pt x="34543" y="1341120"/>
                    <a:pt x="0" y="1281049"/>
                    <a:pt x="0" y="1207008"/>
                  </a:cubicBezTo>
                  <a:close/>
                </a:path>
              </a:pathLst>
            </a:custGeom>
            <a:solidFill>
              <a:srgbClr val="E8ECF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89888" y="7852410"/>
            <a:ext cx="15508224" cy="58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不符合條件的區域先排除，再比較可行方案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2688" y="536448"/>
            <a:ext cx="16422624" cy="1155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參、預期效益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05840" y="2468880"/>
            <a:ext cx="7772400" cy="2697480"/>
            <a:chOff x="0" y="0"/>
            <a:chExt cx="10363200" cy="3596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63200" cy="3596640"/>
            </a:xfrm>
            <a:custGeom>
              <a:avLst/>
              <a:gdLst/>
              <a:ahLst/>
              <a:cxnLst/>
              <a:rect r="r" b="b" t="t" l="l"/>
              <a:pathLst>
                <a:path h="3596640" w="10363200">
                  <a:moveTo>
                    <a:pt x="0" y="359664"/>
                  </a:moveTo>
                  <a:cubicBezTo>
                    <a:pt x="0" y="161036"/>
                    <a:pt x="161036" y="0"/>
                    <a:pt x="359664" y="0"/>
                  </a:cubicBezTo>
                  <a:lnTo>
                    <a:pt x="10003536" y="0"/>
                  </a:lnTo>
                  <a:cubicBezTo>
                    <a:pt x="10202164" y="0"/>
                    <a:pt x="10363200" y="161036"/>
                    <a:pt x="10363200" y="359664"/>
                  </a:cubicBezTo>
                  <a:lnTo>
                    <a:pt x="10363200" y="3236976"/>
                  </a:lnTo>
                  <a:cubicBezTo>
                    <a:pt x="10363200" y="3435604"/>
                    <a:pt x="10202164" y="3596640"/>
                    <a:pt x="10003536" y="3596640"/>
                  </a:cubicBezTo>
                  <a:lnTo>
                    <a:pt x="359664" y="3596640"/>
                  </a:lnTo>
                  <a:cubicBezTo>
                    <a:pt x="161036" y="3596640"/>
                    <a:pt x="0" y="3435604"/>
                    <a:pt x="0" y="32369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44168" y="2704338"/>
            <a:ext cx="7095744" cy="72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提升災損辨識效率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4168" y="3573018"/>
            <a:ext cx="7095744" cy="122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透過無人機多張照片與影像，讓3DGS能有效建構坑洞3D模型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09760" y="2468880"/>
            <a:ext cx="7772400" cy="2697480"/>
            <a:chOff x="0" y="0"/>
            <a:chExt cx="10363200" cy="3596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63200" cy="3596640"/>
            </a:xfrm>
            <a:custGeom>
              <a:avLst/>
              <a:gdLst/>
              <a:ahLst/>
              <a:cxnLst/>
              <a:rect r="r" b="b" t="t" l="l"/>
              <a:pathLst>
                <a:path h="3596640" w="10363200">
                  <a:moveTo>
                    <a:pt x="0" y="359664"/>
                  </a:moveTo>
                  <a:cubicBezTo>
                    <a:pt x="0" y="161036"/>
                    <a:pt x="161036" y="0"/>
                    <a:pt x="359664" y="0"/>
                  </a:cubicBezTo>
                  <a:lnTo>
                    <a:pt x="10003536" y="0"/>
                  </a:lnTo>
                  <a:cubicBezTo>
                    <a:pt x="10202164" y="0"/>
                    <a:pt x="10363200" y="161036"/>
                    <a:pt x="10363200" y="359664"/>
                  </a:cubicBezTo>
                  <a:lnTo>
                    <a:pt x="10363200" y="3236976"/>
                  </a:lnTo>
                  <a:cubicBezTo>
                    <a:pt x="10363200" y="3435604"/>
                    <a:pt x="10202164" y="3596640"/>
                    <a:pt x="10003536" y="3596640"/>
                  </a:cubicBezTo>
                  <a:lnTo>
                    <a:pt x="359664" y="3596640"/>
                  </a:lnTo>
                  <a:cubicBezTo>
                    <a:pt x="161036" y="3596640"/>
                    <a:pt x="0" y="3435604"/>
                    <a:pt x="0" y="32369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848088" y="2704338"/>
            <a:ext cx="7095744" cy="72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資源分配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48088" y="3620643"/>
            <a:ext cx="7095744" cy="117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Noto Sans"/>
                <a:ea typeface="Noto Sans"/>
                <a:cs typeface="Noto Sans"/>
                <a:sym typeface="Noto Sans"/>
              </a:rPr>
              <a:t>AI藉由3D模型去測量坑洞的體積與深度，再有效分配人力與資源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05840" y="5669280"/>
            <a:ext cx="7772400" cy="2697480"/>
            <a:chOff x="0" y="0"/>
            <a:chExt cx="10363200" cy="3596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63200" cy="3596640"/>
            </a:xfrm>
            <a:custGeom>
              <a:avLst/>
              <a:gdLst/>
              <a:ahLst/>
              <a:cxnLst/>
              <a:rect r="r" b="b" t="t" l="l"/>
              <a:pathLst>
                <a:path h="3596640" w="10363200">
                  <a:moveTo>
                    <a:pt x="0" y="359664"/>
                  </a:moveTo>
                  <a:cubicBezTo>
                    <a:pt x="0" y="161036"/>
                    <a:pt x="161036" y="0"/>
                    <a:pt x="359664" y="0"/>
                  </a:cubicBezTo>
                  <a:lnTo>
                    <a:pt x="10003536" y="0"/>
                  </a:lnTo>
                  <a:cubicBezTo>
                    <a:pt x="10202164" y="0"/>
                    <a:pt x="10363200" y="161036"/>
                    <a:pt x="10363200" y="359664"/>
                  </a:cubicBezTo>
                  <a:lnTo>
                    <a:pt x="10363200" y="3236976"/>
                  </a:lnTo>
                  <a:cubicBezTo>
                    <a:pt x="10363200" y="3435604"/>
                    <a:pt x="10202164" y="3596640"/>
                    <a:pt x="10003536" y="3596640"/>
                  </a:cubicBezTo>
                  <a:lnTo>
                    <a:pt x="359664" y="3596640"/>
                  </a:lnTo>
                  <a:cubicBezTo>
                    <a:pt x="161036" y="3596640"/>
                    <a:pt x="0" y="3435604"/>
                    <a:pt x="0" y="32369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44168" y="5904738"/>
            <a:ext cx="7095744" cy="72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降低人工風險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4168" y="6773418"/>
            <a:ext cx="7095744" cy="122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不用傳統人力去測量，改用無人機取代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09760" y="5669280"/>
            <a:ext cx="7772400" cy="2697480"/>
            <a:chOff x="0" y="0"/>
            <a:chExt cx="10363200" cy="3596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63200" cy="3596640"/>
            </a:xfrm>
            <a:custGeom>
              <a:avLst/>
              <a:gdLst/>
              <a:ahLst/>
              <a:cxnLst/>
              <a:rect r="r" b="b" t="t" l="l"/>
              <a:pathLst>
                <a:path h="3596640" w="10363200">
                  <a:moveTo>
                    <a:pt x="0" y="359664"/>
                  </a:moveTo>
                  <a:cubicBezTo>
                    <a:pt x="0" y="161036"/>
                    <a:pt x="161036" y="0"/>
                    <a:pt x="359664" y="0"/>
                  </a:cubicBezTo>
                  <a:lnTo>
                    <a:pt x="10003536" y="0"/>
                  </a:lnTo>
                  <a:cubicBezTo>
                    <a:pt x="10202164" y="0"/>
                    <a:pt x="10363200" y="161036"/>
                    <a:pt x="10363200" y="359664"/>
                  </a:cubicBezTo>
                  <a:lnTo>
                    <a:pt x="10363200" y="3236976"/>
                  </a:lnTo>
                  <a:cubicBezTo>
                    <a:pt x="10363200" y="3435604"/>
                    <a:pt x="10202164" y="3596640"/>
                    <a:pt x="10003536" y="3596640"/>
                  </a:cubicBezTo>
                  <a:lnTo>
                    <a:pt x="359664" y="3596640"/>
                  </a:lnTo>
                  <a:cubicBezTo>
                    <a:pt x="161036" y="3596640"/>
                    <a:pt x="0" y="3435604"/>
                    <a:pt x="0" y="32369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848088" y="5904738"/>
            <a:ext cx="7095744" cy="72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增加修復效率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48088" y="6773418"/>
            <a:ext cx="7095744" cy="122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藉由AI的調度達到修復效率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2688" y="545973"/>
            <a:ext cx="16422624" cy="1145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肆、驗證方式｜Blender 模擬跑道受損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05840" y="2971800"/>
            <a:ext cx="7955280" cy="1508760"/>
            <a:chOff x="0" y="0"/>
            <a:chExt cx="1060704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07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607040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lnTo>
                    <a:pt x="10405872" y="0"/>
                  </a:lnTo>
                  <a:cubicBezTo>
                    <a:pt x="10516997" y="0"/>
                    <a:pt x="10607040" y="90043"/>
                    <a:pt x="10607040" y="201168"/>
                  </a:cubicBezTo>
                  <a:lnTo>
                    <a:pt x="10607040" y="1810512"/>
                  </a:lnTo>
                  <a:cubicBezTo>
                    <a:pt x="10607040" y="1921637"/>
                    <a:pt x="10516997" y="2011680"/>
                    <a:pt x="10405872" y="2011680"/>
                  </a:cubicBezTo>
                  <a:lnTo>
                    <a:pt x="201168" y="2011680"/>
                  </a:lnTo>
                  <a:cubicBezTo>
                    <a:pt x="90043" y="2011680"/>
                    <a:pt x="0" y="1921637"/>
                    <a:pt x="0" y="1810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44168" y="3154680"/>
            <a:ext cx="7278624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517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 建立模擬場景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4168" y="3821811"/>
            <a:ext cx="7278624" cy="49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5171C"/>
                </a:solidFill>
                <a:latin typeface="Noto Sans"/>
                <a:ea typeface="Noto Sans"/>
                <a:cs typeface="Noto Sans"/>
                <a:sym typeface="Noto Sans"/>
              </a:rPr>
              <a:t>Blender 製作地圖與跑道彈坑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05840" y="4846320"/>
            <a:ext cx="7955280" cy="1508760"/>
            <a:chOff x="0" y="0"/>
            <a:chExt cx="10607040" cy="2011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607040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lnTo>
                    <a:pt x="10405872" y="0"/>
                  </a:lnTo>
                  <a:cubicBezTo>
                    <a:pt x="10516997" y="0"/>
                    <a:pt x="10607040" y="90043"/>
                    <a:pt x="10607040" y="201168"/>
                  </a:cubicBezTo>
                  <a:lnTo>
                    <a:pt x="10607040" y="1810512"/>
                  </a:lnTo>
                  <a:cubicBezTo>
                    <a:pt x="10607040" y="1921637"/>
                    <a:pt x="10516997" y="2011680"/>
                    <a:pt x="10405872" y="2011680"/>
                  </a:cubicBezTo>
                  <a:lnTo>
                    <a:pt x="201168" y="2011680"/>
                  </a:lnTo>
                  <a:cubicBezTo>
                    <a:pt x="90043" y="2011680"/>
                    <a:pt x="0" y="1921637"/>
                    <a:pt x="0" y="1810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44168" y="5029200"/>
            <a:ext cx="7278624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517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 判讀災損資訊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4168" y="5648706"/>
            <a:ext cx="7278624" cy="54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辨識坑洞數目，估算各坑洞體積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05840" y="6720840"/>
            <a:ext cx="7955280" cy="1508760"/>
            <a:chOff x="0" y="0"/>
            <a:chExt cx="10607040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07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0607040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lnTo>
                    <a:pt x="10405872" y="0"/>
                  </a:lnTo>
                  <a:cubicBezTo>
                    <a:pt x="10516997" y="0"/>
                    <a:pt x="10607040" y="90043"/>
                    <a:pt x="10607040" y="201168"/>
                  </a:cubicBezTo>
                  <a:lnTo>
                    <a:pt x="10607040" y="1810512"/>
                  </a:lnTo>
                  <a:cubicBezTo>
                    <a:pt x="10607040" y="1921637"/>
                    <a:pt x="10516997" y="2011680"/>
                    <a:pt x="10405872" y="2011680"/>
                  </a:cubicBezTo>
                  <a:lnTo>
                    <a:pt x="201168" y="2011680"/>
                  </a:lnTo>
                  <a:cubicBezTo>
                    <a:pt x="90043" y="2011680"/>
                    <a:pt x="0" y="1921637"/>
                    <a:pt x="0" y="18105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44168" y="6903720"/>
            <a:ext cx="7278624" cy="4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5171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 規劃修補作業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4168" y="7570851"/>
            <a:ext cx="7278624" cy="49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5171C"/>
                </a:solidFill>
                <a:latin typeface="Noto Sans"/>
                <a:ea typeface="Noto Sans"/>
                <a:cs typeface="Noto Sans"/>
                <a:sym typeface="Noto Sans"/>
              </a:rPr>
              <a:t>AI 提出資源分配與修補順序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90288" y="4535424"/>
            <a:ext cx="69494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90288" y="6409944"/>
            <a:ext cx="69494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16245" y="3154680"/>
            <a:ext cx="7406640" cy="4937760"/>
            <a:chOff x="0" y="0"/>
            <a:chExt cx="9875520" cy="658368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9875520" cy="6583680"/>
            </a:xfrm>
            <a:custGeom>
              <a:avLst/>
              <a:gdLst/>
              <a:ahLst/>
              <a:cxnLst/>
              <a:rect r="r" b="b" t="t" l="l"/>
              <a:pathLst>
                <a:path h="65836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54322" y="1870888"/>
            <a:ext cx="9661389" cy="729170"/>
            <a:chOff x="0" y="0"/>
            <a:chExt cx="12881852" cy="9722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81852" cy="972227"/>
            </a:xfrm>
            <a:custGeom>
              <a:avLst/>
              <a:gdLst/>
              <a:ahLst/>
              <a:cxnLst/>
              <a:rect r="r" b="b" t="t" l="l"/>
              <a:pathLst>
                <a:path h="972227" w="12881852">
                  <a:moveTo>
                    <a:pt x="0" y="97223"/>
                  </a:moveTo>
                  <a:cubicBezTo>
                    <a:pt x="0" y="43548"/>
                    <a:pt x="35657" y="0"/>
                    <a:pt x="79607" y="0"/>
                  </a:cubicBezTo>
                  <a:lnTo>
                    <a:pt x="12802245" y="0"/>
                  </a:lnTo>
                  <a:cubicBezTo>
                    <a:pt x="12846194" y="0"/>
                    <a:pt x="12881852" y="43548"/>
                    <a:pt x="12881852" y="97223"/>
                  </a:cubicBezTo>
                  <a:lnTo>
                    <a:pt x="12881852" y="875004"/>
                  </a:lnTo>
                  <a:cubicBezTo>
                    <a:pt x="12881852" y="928679"/>
                    <a:pt x="12846194" y="972227"/>
                    <a:pt x="12802245" y="972227"/>
                  </a:cubicBezTo>
                  <a:lnTo>
                    <a:pt x="79607" y="972227"/>
                  </a:lnTo>
                  <a:cubicBezTo>
                    <a:pt x="35657" y="972227"/>
                    <a:pt x="0" y="928679"/>
                    <a:pt x="0" y="875004"/>
                  </a:cubicBezTo>
                  <a:close/>
                </a:path>
              </a:pathLst>
            </a:custGeom>
            <a:solidFill>
              <a:srgbClr val="E8ECF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216245" y="8369418"/>
            <a:ext cx="419201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5171C"/>
                </a:solidFill>
                <a:latin typeface="Calibri (MS)"/>
                <a:ea typeface="Calibri (MS)"/>
                <a:cs typeface="Calibri (MS)"/>
                <a:sym typeface="Calibri (MS)"/>
              </a:rPr>
              <a:t>情境：軍用機場跑道受損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柔和灰藍背景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706088" y="9619488"/>
            <a:ext cx="557784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4E5C73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44368" y="3012948"/>
            <a:ext cx="12399264" cy="3296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報告完畢</a:t>
            </a:r>
          </a:p>
          <a:p>
            <a:pPr algn="ctr">
              <a:lnSpc>
                <a:spcPts val="6720"/>
              </a:lnSpc>
            </a:pPr>
            <a:r>
              <a:rPr lang="en-US" sz="5600" b="true">
                <a:solidFill>
                  <a:srgbClr val="1517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恭請指教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DAHXrBpw-GU</dc:identifier>
  <dcterms:modified xsi:type="dcterms:W3CDTF">2011-08-01T06:04:30Z</dcterms:modified>
  <cp:revision>1</cp:revision>
  <dc:title>國防AI_柔和灰藍背景版.pptx</dc:title>
</cp:coreProperties>
</file>