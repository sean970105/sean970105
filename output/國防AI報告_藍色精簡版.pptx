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20500000000000000" charset="0"/>
      <p:regular r:id="rId13"/>
    </p:embeddedFont>
    <p:embeddedFont>
      <p:font typeface="Arimo Bold" panose="02020500000000000000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(MS)" panose="02020500000000000000" charset="0"/>
      <p:regular r:id="rId19"/>
    </p:embeddedFont>
    <p:embeddedFont>
      <p:font typeface="Calibri (MS) Bold" panose="02020500000000000000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4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88620" y="3096387"/>
            <a:ext cx="16322040" cy="1386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defRPr>
                <a:latin typeface="Noto Sans CJK TC"/>
              </a:defRPr>
            </a:pPr>
            <a:r>
              <a:rPr lang="en-US" sz="4500" b="1" spc="6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AI 彈坑快修：從影像辨識到快速評估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10660" y="9646158"/>
            <a:ext cx="48006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>
                <a:latin typeface="Noto Sans CJK TC"/>
              </a:defRPr>
            </a:pPr>
            <a:r>
              <a:rPr lang="en-US" sz="1650" spc="2">
                <a:solidFill>
                  <a:srgbClr val="50678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521440" y="2606040"/>
            <a:ext cx="5897880" cy="6240780"/>
            <a:chOff x="0" y="0"/>
            <a:chExt cx="7863840" cy="8321040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7863840" cy="8321040"/>
            </a:xfrm>
            <a:custGeom>
              <a:avLst/>
              <a:gdLst/>
              <a:ahLst/>
              <a:cxnLst/>
              <a:rect l="l" t="t" r="r" b="b"/>
              <a:pathLst>
                <a:path w="7863840" h="8321040">
                  <a:moveTo>
                    <a:pt x="0" y="0"/>
                  </a:moveTo>
                  <a:lnTo>
                    <a:pt x="7863840" y="0"/>
                  </a:lnTo>
                  <a:lnTo>
                    <a:pt x="7863840" y="8321040"/>
                  </a:lnTo>
                  <a:lnTo>
                    <a:pt x="0" y="8321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" r="-17"/>
              </a:stretch>
            </a:blip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1580" y="7386066"/>
            <a:ext cx="9464040" cy="1483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  <a:defRPr>
                <a:latin typeface="Noto Sans CJK TC"/>
              </a:defRPr>
            </a:pPr>
            <a:r>
              <a:rPr lang="en-US" sz="2700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團隊：泥好</a:t>
            </a:r>
          </a:p>
          <a:p>
            <a:pPr algn="l">
              <a:lnSpc>
                <a:spcPts val="3240"/>
              </a:lnSpc>
              <a:defRPr>
                <a:latin typeface="Noto Sans CJK TC"/>
              </a:defRPr>
            </a:pPr>
            <a:r>
              <a:rPr lang="en-US" sz="2700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徐專洧・陳宥翔・張瑞洋・林書呈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9057974" y="1918671"/>
            <a:ext cx="8603028" cy="5859794"/>
          </a:xfrm>
          <a:custGeom>
            <a:avLst/>
            <a:gdLst/>
            <a:ahLst/>
            <a:cxnLst/>
            <a:rect l="l" t="t" r="r" b="b"/>
            <a:pathLst>
              <a:path w="8603028" h="5859794">
                <a:moveTo>
                  <a:pt x="0" y="0"/>
                </a:moveTo>
                <a:lnTo>
                  <a:pt x="8603027" y="0"/>
                </a:lnTo>
                <a:lnTo>
                  <a:pt x="8603027" y="5859794"/>
                </a:lnTo>
                <a:lnTo>
                  <a:pt x="0" y="5859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8" t="-10888" r="-908"/>
            </a:stretch>
          </a:blipFill>
        </p:spPr>
        <p:txBody>
          <a:bodyPr/>
          <a:p>
            <a:pPr>
              <a:defRPr>
                <a:latin typeface="Noto Sans CJK TC"/>
              </a:defRPr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937260" y="1066038"/>
            <a:ext cx="16322040" cy="1453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defRPr>
                <a:latin typeface="Noto Sans CJK TC"/>
              </a:defRPr>
            </a:pPr>
            <a:r>
              <a:rPr lang="en-US" sz="450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大綱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10660" y="9646158"/>
            <a:ext cx="48006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>
                <a:latin typeface="Noto Sans CJK TC"/>
              </a:defRPr>
            </a:pPr>
            <a:r>
              <a:rPr lang="en-US" sz="1650" spc="2">
                <a:solidFill>
                  <a:srgbClr val="50678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681097"/>
            <a:ext cx="7132320" cy="8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defRPr>
                <a:latin typeface="Noto Sans CJK TC"/>
              </a:defRPr>
            </a:pPr>
            <a:r>
              <a:rPr lang="en-US" sz="31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壹、國防用途與建議說明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810381"/>
            <a:ext cx="7132320" cy="8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defRPr>
                <a:latin typeface="Noto Sans CJK TC"/>
              </a:defRPr>
            </a:pPr>
            <a:r>
              <a:rPr lang="en-US" sz="31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貳、設計構想暨 AI 技術運用說明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076825"/>
            <a:ext cx="7132320" cy="8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defRPr>
                <a:latin typeface="Noto Sans CJK TC"/>
              </a:defRPr>
            </a:pPr>
            <a:r>
              <a:rPr lang="en-US" sz="31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參、預期效益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208014"/>
            <a:ext cx="7132320" cy="80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defRPr>
                <a:latin typeface="Noto Sans CJK TC"/>
              </a:defRPr>
            </a:pPr>
            <a:r>
              <a:rPr lang="en-US" sz="31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肆、驗證方式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63019" y="864823"/>
            <a:ext cx="16322040" cy="1453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defRPr>
                <a:latin typeface="Noto Sans CJK TC"/>
              </a:defRPr>
            </a:pPr>
            <a:r>
              <a:rPr lang="en-US" sz="450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壹、國防用途與建議說明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10660" y="9646158"/>
            <a:ext cx="48006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>
                <a:latin typeface="Noto Sans CJK TC"/>
              </a:defRPr>
            </a:pPr>
            <a:r>
              <a:rPr lang="en-US" sz="1650" spc="2">
                <a:solidFill>
                  <a:srgbClr val="50678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98081" y="3452012"/>
            <a:ext cx="5389619" cy="799948"/>
            <a:chOff x="0" y="0"/>
            <a:chExt cx="7186158" cy="1066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757804" y="3556711"/>
            <a:ext cx="456202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>
                <a:latin typeface="Noto Sans CJK TC"/>
              </a:defRPr>
            </a:pPr>
            <a:r>
              <a:rPr lang="en-US" sz="300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1.遠端影像的評估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1540" y="2477649"/>
            <a:ext cx="1927860" cy="469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b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現況分析: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57786" y="2477649"/>
            <a:ext cx="2315213" cy="469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b="1" dirty="0" err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ai輔助改善</a:t>
            </a:r>
            <a:r>
              <a:rPr lang="en-US" sz="3150" b="1" dirty="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: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461638" y="5323767"/>
            <a:ext cx="5389619" cy="799948"/>
            <a:chOff x="0" y="0"/>
            <a:chExt cx="7186158" cy="10665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65668" y="5442405"/>
            <a:ext cx="4329796" cy="469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dirty="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2.三圍模型的輔助測量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498081" y="7000723"/>
            <a:ext cx="5389619" cy="799948"/>
            <a:chOff x="0" y="0"/>
            <a:chExt cx="7186158" cy="10665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741239" y="7117239"/>
            <a:ext cx="4863196" cy="469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dirty="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3.ai去分配資源與整合流程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3452012"/>
            <a:ext cx="6448415" cy="799948"/>
            <a:chOff x="0" y="0"/>
            <a:chExt cx="7067969" cy="8768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67969" cy="876806"/>
            </a:xfrm>
            <a:custGeom>
              <a:avLst/>
              <a:gdLst/>
              <a:ahLst/>
              <a:cxnLst/>
              <a:rect l="l" t="t" r="r" b="b"/>
              <a:pathLst>
                <a:path w="7067969" h="876806">
                  <a:moveTo>
                    <a:pt x="0" y="146134"/>
                  </a:moveTo>
                  <a:cubicBezTo>
                    <a:pt x="0" y="65427"/>
                    <a:pt x="88040" y="0"/>
                    <a:pt x="196642" y="0"/>
                  </a:cubicBezTo>
                  <a:lnTo>
                    <a:pt x="6871327" y="0"/>
                  </a:lnTo>
                  <a:cubicBezTo>
                    <a:pt x="6979928" y="0"/>
                    <a:pt x="7067969" y="65427"/>
                    <a:pt x="7067969" y="146134"/>
                  </a:cubicBezTo>
                  <a:lnTo>
                    <a:pt x="7067969" y="730672"/>
                  </a:lnTo>
                  <a:cubicBezTo>
                    <a:pt x="7067969" y="811379"/>
                    <a:pt x="6979928" y="876806"/>
                    <a:pt x="6871327" y="876806"/>
                  </a:cubicBezTo>
                  <a:lnTo>
                    <a:pt x="196642" y="876806"/>
                  </a:lnTo>
                  <a:cubicBezTo>
                    <a:pt x="88040" y="876806"/>
                    <a:pt x="0" y="811379"/>
                    <a:pt x="0" y="73067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1540" y="5052060"/>
            <a:ext cx="6448415" cy="957099"/>
            <a:chOff x="0" y="0"/>
            <a:chExt cx="7186158" cy="106659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63019" y="6809259"/>
            <a:ext cx="6875997" cy="1020563"/>
            <a:chOff x="0" y="0"/>
            <a:chExt cx="7186158" cy="10665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86158" cy="1066598"/>
            </a:xfrm>
            <a:custGeom>
              <a:avLst/>
              <a:gdLst/>
              <a:ahLst/>
              <a:cxnLst/>
              <a:rect l="l" t="t" r="r" b="b"/>
              <a:pathLst>
                <a:path w="7186158" h="1066598">
                  <a:moveTo>
                    <a:pt x="0" y="177766"/>
                  </a:moveTo>
                  <a:cubicBezTo>
                    <a:pt x="0" y="79590"/>
                    <a:pt x="89513" y="0"/>
                    <a:pt x="199930" y="0"/>
                  </a:cubicBezTo>
                  <a:lnTo>
                    <a:pt x="6986229" y="0"/>
                  </a:lnTo>
                  <a:cubicBezTo>
                    <a:pt x="7096646" y="0"/>
                    <a:pt x="7186158" y="79590"/>
                    <a:pt x="7186158" y="177766"/>
                  </a:cubicBezTo>
                  <a:lnTo>
                    <a:pt x="7186158" y="888832"/>
                  </a:lnTo>
                  <a:cubicBezTo>
                    <a:pt x="7186158" y="987008"/>
                    <a:pt x="7096646" y="1066598"/>
                    <a:pt x="6986229" y="1066598"/>
                  </a:cubicBezTo>
                  <a:lnTo>
                    <a:pt x="199930" y="1066598"/>
                  </a:lnTo>
                  <a:cubicBezTo>
                    <a:pt x="89513" y="1066598"/>
                    <a:pt x="0" y="987008"/>
                    <a:pt x="0" y="8888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28700" y="3566160"/>
            <a:ext cx="644841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>
                <a:latin typeface="Noto Sans CJK TC"/>
              </a:defRPr>
            </a:pPr>
            <a:r>
              <a:rPr lang="en-US" sz="300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1.人員進入高風險區域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5318760"/>
            <a:ext cx="644841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>
                <a:latin typeface="Noto Sans CJK TC"/>
              </a:defRPr>
            </a:pPr>
            <a:r>
              <a:rPr lang="en-US" sz="300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2.人工測量耗時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7603" y="6994264"/>
            <a:ext cx="687599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>
                <a:latin typeface="Noto Sans CJK TC"/>
              </a:defRPr>
            </a:pPr>
            <a:r>
              <a:rPr lang="en-US" sz="300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3.材料估算需人工處理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37260" y="1066038"/>
            <a:ext cx="16322040" cy="1453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defRPr>
                <a:latin typeface="Noto Sans CJK TC"/>
              </a:defRPr>
            </a:pPr>
            <a:r>
              <a:rPr lang="en-US" sz="450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貳、設計構想暨 AI 技術運用說明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10660" y="9646158"/>
            <a:ext cx="48006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>
                <a:latin typeface="Noto Sans CJK TC"/>
              </a:defRPr>
            </a:pPr>
            <a:r>
              <a:rPr lang="en-US" sz="1650" spc="2">
                <a:solidFill>
                  <a:srgbClr val="50678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60120" y="3429000"/>
            <a:ext cx="4005072" cy="5829300"/>
            <a:chOff x="0" y="0"/>
            <a:chExt cx="5340096" cy="7772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40096" cy="7772400"/>
            </a:xfrm>
            <a:custGeom>
              <a:avLst/>
              <a:gdLst/>
              <a:ahLst/>
              <a:cxnLst/>
              <a:rect l="l" t="t" r="r" b="b"/>
              <a:pathLst>
                <a:path w="5340096" h="7772400">
                  <a:moveTo>
                    <a:pt x="0" y="1295400"/>
                  </a:moveTo>
                  <a:cubicBezTo>
                    <a:pt x="0" y="580103"/>
                    <a:pt x="286639" y="0"/>
                    <a:pt x="640080" y="0"/>
                  </a:cubicBezTo>
                  <a:lnTo>
                    <a:pt x="4700016" y="0"/>
                  </a:lnTo>
                  <a:cubicBezTo>
                    <a:pt x="5053584" y="0"/>
                    <a:pt x="5340096" y="580103"/>
                    <a:pt x="5340096" y="1295400"/>
                  </a:cubicBezTo>
                  <a:lnTo>
                    <a:pt x="5340096" y="6477000"/>
                  </a:lnTo>
                  <a:cubicBezTo>
                    <a:pt x="5340096" y="7192554"/>
                    <a:pt x="5053457" y="7772400"/>
                    <a:pt x="4700016" y="7772400"/>
                  </a:cubicBezTo>
                  <a:lnTo>
                    <a:pt x="640080" y="7772400"/>
                  </a:lnTo>
                  <a:cubicBezTo>
                    <a:pt x="286639" y="7772400"/>
                    <a:pt x="0" y="7192297"/>
                    <a:pt x="0" y="64770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9012" y="3620643"/>
            <a:ext cx="822960" cy="54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>
                <a:latin typeface="Noto Sans CJK TC"/>
              </a:defRPr>
            </a:pPr>
            <a:r>
              <a:rPr lang="en-US" sz="2400" b="1" spc="3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9012" y="4180713"/>
            <a:ext cx="3456432" cy="64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defRPr>
                <a:latin typeface="Noto Sans CJK TC"/>
              </a:defRPr>
            </a:pPr>
            <a:r>
              <a:rPr lang="en-US" sz="31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影像取得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21808" y="3429000"/>
            <a:ext cx="4005072" cy="5797972"/>
            <a:chOff x="0" y="0"/>
            <a:chExt cx="5340096" cy="77306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40096" cy="7730630"/>
            </a:xfrm>
            <a:custGeom>
              <a:avLst/>
              <a:gdLst/>
              <a:ahLst/>
              <a:cxnLst/>
              <a:rect l="l" t="t" r="r" b="b"/>
              <a:pathLst>
                <a:path w="5340096" h="7730630">
                  <a:moveTo>
                    <a:pt x="0" y="1288438"/>
                  </a:moveTo>
                  <a:cubicBezTo>
                    <a:pt x="0" y="576985"/>
                    <a:pt x="286639" y="0"/>
                    <a:pt x="640080" y="0"/>
                  </a:cubicBezTo>
                  <a:lnTo>
                    <a:pt x="4700016" y="0"/>
                  </a:lnTo>
                  <a:cubicBezTo>
                    <a:pt x="5053584" y="0"/>
                    <a:pt x="5340096" y="576985"/>
                    <a:pt x="5340096" y="1288438"/>
                  </a:cubicBezTo>
                  <a:lnTo>
                    <a:pt x="5340096" y="6442191"/>
                  </a:lnTo>
                  <a:cubicBezTo>
                    <a:pt x="5340096" y="7153900"/>
                    <a:pt x="5053457" y="7730630"/>
                    <a:pt x="4700016" y="7730630"/>
                  </a:cubicBezTo>
                  <a:lnTo>
                    <a:pt x="640080" y="7730630"/>
                  </a:lnTo>
                  <a:cubicBezTo>
                    <a:pt x="286639" y="7730630"/>
                    <a:pt x="0" y="7153644"/>
                    <a:pt x="0" y="64421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600700" y="3620643"/>
            <a:ext cx="822960" cy="54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>
                <a:latin typeface="Noto Sans CJK TC"/>
              </a:defRPr>
            </a:pPr>
            <a:r>
              <a:rPr lang="en-US" sz="2400" b="1" spc="3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00700" y="4180713"/>
            <a:ext cx="3456432" cy="64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defRPr>
                <a:latin typeface="Noto Sans CJK TC"/>
              </a:defRPr>
            </a:pPr>
            <a:r>
              <a:rPr lang="en-US" sz="31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坑洞辨識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683496" y="3429000"/>
            <a:ext cx="4005072" cy="5829300"/>
            <a:chOff x="0" y="0"/>
            <a:chExt cx="5340096" cy="7772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40096" cy="7772400"/>
            </a:xfrm>
            <a:custGeom>
              <a:avLst/>
              <a:gdLst/>
              <a:ahLst/>
              <a:cxnLst/>
              <a:rect l="l" t="t" r="r" b="b"/>
              <a:pathLst>
                <a:path w="5340096" h="7772400">
                  <a:moveTo>
                    <a:pt x="0" y="1295400"/>
                  </a:moveTo>
                  <a:cubicBezTo>
                    <a:pt x="0" y="580103"/>
                    <a:pt x="286639" y="0"/>
                    <a:pt x="640080" y="0"/>
                  </a:cubicBezTo>
                  <a:lnTo>
                    <a:pt x="4700016" y="0"/>
                  </a:lnTo>
                  <a:cubicBezTo>
                    <a:pt x="5053584" y="0"/>
                    <a:pt x="5340096" y="580103"/>
                    <a:pt x="5340096" y="1295400"/>
                  </a:cubicBezTo>
                  <a:lnTo>
                    <a:pt x="5340096" y="6477000"/>
                  </a:lnTo>
                  <a:cubicBezTo>
                    <a:pt x="5340096" y="7192554"/>
                    <a:pt x="5053457" y="7772400"/>
                    <a:pt x="4700016" y="7772400"/>
                  </a:cubicBezTo>
                  <a:lnTo>
                    <a:pt x="640080" y="7772400"/>
                  </a:lnTo>
                  <a:cubicBezTo>
                    <a:pt x="286639" y="7772400"/>
                    <a:pt x="0" y="7192297"/>
                    <a:pt x="0" y="64770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962388" y="3620643"/>
            <a:ext cx="822960" cy="54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>
                <a:latin typeface="Noto Sans CJK TC"/>
              </a:defRPr>
            </a:pPr>
            <a:r>
              <a:rPr lang="en-US" sz="2400" b="1" spc="3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62388" y="4180713"/>
            <a:ext cx="3456432" cy="64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defRPr>
                <a:latin typeface="Noto Sans CJK TC"/>
              </a:defRPr>
            </a:pPr>
            <a:r>
              <a:rPr lang="en-US" sz="31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幾何估算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045184" y="3429000"/>
            <a:ext cx="4005072" cy="5942838"/>
            <a:chOff x="0" y="0"/>
            <a:chExt cx="5340096" cy="79237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40096" cy="7923784"/>
            </a:xfrm>
            <a:custGeom>
              <a:avLst/>
              <a:gdLst/>
              <a:ahLst/>
              <a:cxnLst/>
              <a:rect l="l" t="t" r="r" b="b"/>
              <a:pathLst>
                <a:path w="5340096" h="7923784">
                  <a:moveTo>
                    <a:pt x="0" y="1320631"/>
                  </a:moveTo>
                  <a:cubicBezTo>
                    <a:pt x="0" y="591401"/>
                    <a:pt x="286639" y="0"/>
                    <a:pt x="640080" y="0"/>
                  </a:cubicBezTo>
                  <a:lnTo>
                    <a:pt x="4700016" y="0"/>
                  </a:lnTo>
                  <a:cubicBezTo>
                    <a:pt x="5053584" y="0"/>
                    <a:pt x="5340096" y="591401"/>
                    <a:pt x="5340096" y="1320631"/>
                  </a:cubicBezTo>
                  <a:lnTo>
                    <a:pt x="5340096" y="6603154"/>
                  </a:lnTo>
                  <a:cubicBezTo>
                    <a:pt x="5340096" y="7332645"/>
                    <a:pt x="5053457" y="7923784"/>
                    <a:pt x="4700016" y="7923784"/>
                  </a:cubicBezTo>
                  <a:lnTo>
                    <a:pt x="640080" y="7923784"/>
                  </a:lnTo>
                  <a:cubicBezTo>
                    <a:pt x="286639" y="7923784"/>
                    <a:pt x="0" y="7332382"/>
                    <a:pt x="0" y="66031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324076" y="3620643"/>
            <a:ext cx="822960" cy="54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>
                <a:latin typeface="Noto Sans CJK TC"/>
              </a:defRPr>
            </a:pPr>
            <a:r>
              <a:rPr lang="en-US" sz="2400" b="1" spc="3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24076" y="4180713"/>
            <a:ext cx="345643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defRPr>
                <a:latin typeface="Noto Sans CJK TC"/>
              </a:defRPr>
            </a:pPr>
            <a:r>
              <a:rPr lang="en-US" sz="31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資源調度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5076825"/>
            <a:ext cx="3243455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b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從衛星影像辨識，若不清楚採用無人機錄製RGB影片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32974" y="5153770"/>
            <a:ext cx="3243455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b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運用Yolo影像辨識，判別是否疑似是坑洞。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93630" y="5076825"/>
            <a:ext cx="3243455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b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無人機的多張照片與影像，進行極速3D重建。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45778" y="5178921"/>
            <a:ext cx="3243455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b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讓AI去評估需要的人力與水泥，分析跑道上的坑洞如何修復是最有效率讓飛機起飛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841236" y="4816526"/>
            <a:ext cx="5987197" cy="3906646"/>
          </a:xfrm>
          <a:custGeom>
            <a:avLst/>
            <a:gdLst/>
            <a:ahLst/>
            <a:cxnLst/>
            <a:rect l="l" t="t" r="r" b="b"/>
            <a:pathLst>
              <a:path w="5987197" h="3906646">
                <a:moveTo>
                  <a:pt x="0" y="0"/>
                </a:moveTo>
                <a:lnTo>
                  <a:pt x="5987198" y="0"/>
                </a:lnTo>
                <a:lnTo>
                  <a:pt x="5987198" y="3906646"/>
                </a:lnTo>
                <a:lnTo>
                  <a:pt x="0" y="3906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>
            <a:pPr>
              <a:defRPr>
                <a:latin typeface="Noto Sans CJK TC"/>
              </a:defRPr>
            </a:pPr>
          </a:p>
        </p:txBody>
      </p:sp>
      <p:sp>
        <p:nvSpPr>
          <p:cNvPr id="7" name="Freeform 7"/>
          <p:cNvSpPr/>
          <p:nvPr/>
        </p:nvSpPr>
        <p:spPr>
          <a:xfrm>
            <a:off x="10328190" y="4816526"/>
            <a:ext cx="6862530" cy="3981943"/>
          </a:xfrm>
          <a:custGeom>
            <a:avLst/>
            <a:gdLst/>
            <a:ahLst/>
            <a:cxnLst/>
            <a:rect l="l" t="t" r="r" b="b"/>
            <a:pathLst>
              <a:path w="6862530" h="3981943">
                <a:moveTo>
                  <a:pt x="0" y="0"/>
                </a:moveTo>
                <a:lnTo>
                  <a:pt x="6862530" y="0"/>
                </a:lnTo>
                <a:lnTo>
                  <a:pt x="6862530" y="3981943"/>
                </a:lnTo>
                <a:lnTo>
                  <a:pt x="0" y="3981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20" t="-30224" r="-1529"/>
            </a:stretch>
          </a:blipFill>
        </p:spPr>
        <p:txBody>
          <a:bodyPr/>
          <a:p>
            <a:pPr>
              <a:defRPr>
                <a:latin typeface="Noto Sans CJK TC"/>
              </a:defRPr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16710660" y="9646158"/>
            <a:ext cx="48006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>
                <a:latin typeface="Noto Sans CJK TC"/>
              </a:defRPr>
            </a:pPr>
            <a:r>
              <a:rPr lang="en-US" sz="1650" spc="2">
                <a:solidFill>
                  <a:srgbClr val="50678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8650" y="933450"/>
            <a:ext cx="1632204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defRPr>
                <a:latin typeface="Noto Sans CJK TC"/>
              </a:defRPr>
            </a:pPr>
            <a:r>
              <a:rPr lang="en-US" sz="450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01影像取得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14600"/>
            <a:ext cx="1562100" cy="469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b="1" dirty="0" err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衛星圖</a:t>
            </a:r>
            <a:r>
              <a:rPr lang="en-US" sz="3150" b="1" dirty="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7581" y="3843338"/>
            <a:ext cx="613966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2650" b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無法精確地辨識坑洞的體積與深度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34600" y="2531714"/>
            <a:ext cx="2355547" cy="469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 b="1" dirty="0" err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無人機拍攝</a:t>
            </a:r>
            <a:r>
              <a:rPr lang="en-US" sz="3150" b="1" dirty="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13739" y="3668764"/>
            <a:ext cx="6139667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2650" b="1" dirty="0" err="1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可經由近距離的拍攝多張照片或錄影，達到分析體積與深度的成效</a:t>
            </a:r>
            <a:endParaRPr lang="en-US" sz="2650" b="1" dirty="0">
              <a:solidFill>
                <a:srgbClr val="000000"/>
              </a:solidFill>
              <a:latin typeface="Noto Sans CJK TC"/>
              <a:ea typeface="Noto Sans CJK TC"/>
              <a:cs typeface="Noto Sans CJK TC"/>
              <a:sym typeface="Noto Sans CJK T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1978640" y="2011680"/>
            <a:ext cx="5303520" cy="2743200"/>
          </a:xfrm>
          <a:custGeom>
            <a:avLst/>
            <a:gdLst/>
            <a:ahLst/>
            <a:cxnLst/>
            <a:rect l="l" t="t" r="r" b="b"/>
            <a:pathLst>
              <a:path w="5421639" h="2790554">
                <a:moveTo>
                  <a:pt x="0" y="0"/>
                </a:moveTo>
                <a:lnTo>
                  <a:pt x="5421639" y="0"/>
                </a:lnTo>
                <a:lnTo>
                  <a:pt x="5421639" y="2790553"/>
                </a:lnTo>
                <a:lnTo>
                  <a:pt x="0" y="279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360" t="-15322" r="-29226" b="-74809"/>
            </a:stretch>
          </a:blipFill>
        </p:spPr>
        <p:txBody>
          <a:bodyPr/>
          <a:p>
            <a:pPr>
              <a:defRPr>
                <a:latin typeface="Noto Sans CJK TC"/>
              </a:defRPr>
            </a:pPr>
          </a:p>
        </p:txBody>
      </p:sp>
      <p:sp>
        <p:nvSpPr>
          <p:cNvPr id="7" name="Freeform 7"/>
          <p:cNvSpPr/>
          <p:nvPr/>
        </p:nvSpPr>
        <p:spPr>
          <a:xfrm>
            <a:off x="11978640" y="5577840"/>
            <a:ext cx="5303520" cy="2743200"/>
          </a:xfrm>
          <a:custGeom>
            <a:avLst/>
            <a:gdLst/>
            <a:ahLst/>
            <a:cxnLst/>
            <a:rect l="l" t="t" r="r" b="b"/>
            <a:pathLst>
              <a:path w="5324863" h="3183735">
                <a:moveTo>
                  <a:pt x="0" y="0"/>
                </a:moveTo>
                <a:lnTo>
                  <a:pt x="5324863" y="0"/>
                </a:lnTo>
                <a:lnTo>
                  <a:pt x="5324863" y="3183735"/>
                </a:lnTo>
                <a:lnTo>
                  <a:pt x="0" y="3183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7733" b="-13773"/>
            </a:stretch>
          </a:blipFill>
        </p:spPr>
        <p:txBody>
          <a:bodyPr/>
          <a:p>
            <a:pPr>
              <a:defRPr>
                <a:latin typeface="Noto Sans CJK T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8288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16459200" cy="1005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02 坑洞辨識｜讓 YOLO 學會區分彈坑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555480"/>
            <a:ext cx="14630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06780"/>
                </a:solidFill>
                <a:latin typeface="Noto Sans CJK TC"/>
              </a:defRPr>
            </a:pPr>
            <a:r>
              <a:rPr>
                <a:latin typeface="Noto Sans CJK TC"/>
              </a:rPr>
              <a:t>AI 彈坑快修  /  從影像辨識到快速評估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0" y="9509760"/>
            <a:ext cx="9144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1042416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核心方法：正例＋反例＋多角度影像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" y="2788920"/>
          <a:ext cx="10515600" cy="369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200400"/>
              </a:tblGrid>
              <a:tr h="731520"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資料設計</a:t>
                      </a:r>
                    </a:p>
                  </a:txBody>
                  <a:tcPr anchor="ctr" marL="164592" marR="16459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蒐集重點</a:t>
                      </a:r>
                    </a:p>
                  </a:txBody>
                  <a:tcPr anchor="ctr" marL="164592" marR="16459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目的</a:t>
                      </a:r>
                    </a:p>
                  </a:txBody>
                  <a:tcPr anchor="ctr" marL="164592" marR="164592">
                    <a:solidFill>
                      <a:srgbClr val="2563E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彈坑正例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不同光線、角度與大小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辨識彈坑特徵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非彈坑反例</a:t>
                      </a:r>
                    </a:p>
                  </a:txBody>
                  <a:tcPr anchor="ctr" marL="164592" marR="164592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路面坑洞等相似外觀</a:t>
                      </a:r>
                    </a:p>
                  </a:txBody>
                  <a:tcPr anchor="ctr" marL="164592" marR="164592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降低誤判</a:t>
                      </a:r>
                    </a:p>
                  </a:txBody>
                  <a:tcPr anchor="ctr" marL="164592" marR="164592">
                    <a:solidFill>
                      <a:srgbClr val="EAF1FD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無人機影像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同一坑洞的多角度照片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補充辨識資訊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22960" y="7406640"/>
            <a:ext cx="10515600" cy="100584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51560" y="7543800"/>
            <a:ext cx="1005840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輸出：疑似彈坑位置，供後續幾何估算使用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0" y="4800600"/>
            <a:ext cx="530352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正例示意：彈坑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0" y="8366760"/>
            <a:ext cx="530352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反例示意：路面坑洞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9372600" y="2743200"/>
            <a:ext cx="8046720" cy="4023360"/>
          </a:xfrm>
          <a:custGeom>
            <a:avLst/>
            <a:gdLst/>
            <a:ahLst/>
            <a:cxnLst/>
            <a:rect l="l" t="t" r="r" b="b"/>
            <a:pathLst>
              <a:path w="9135120" h="4558441">
                <a:moveTo>
                  <a:pt x="0" y="0"/>
                </a:moveTo>
                <a:lnTo>
                  <a:pt x="9135120" y="0"/>
                </a:lnTo>
                <a:lnTo>
                  <a:pt x="9135120" y="4558441"/>
                </a:lnTo>
                <a:lnTo>
                  <a:pt x="0" y="4558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69" t="-54624"/>
            </a:stretch>
          </a:blipFill>
        </p:spPr>
        <p:txBody>
          <a:bodyPr/>
          <a:p>
            <a:pPr>
              <a:defRPr>
                <a:latin typeface="Noto Sans CJK TC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8288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640080"/>
            <a:ext cx="16459200" cy="1005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03 幾何估算｜以 3DGS 加速重建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555480"/>
            <a:ext cx="14630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06780"/>
                </a:solidFill>
                <a:latin typeface="Noto Sans CJK TC"/>
              </a:defRPr>
            </a:pPr>
            <a:r>
              <a:rPr>
                <a:latin typeface="Noto Sans CJK TC"/>
              </a:rPr>
              <a:t>AI 彈坑快修  /  從影像辨識到快速評估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0" y="9509760"/>
            <a:ext cx="9144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1645920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目標：縮短重建等待時間，支援快速災損評估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2788920"/>
          <a:ext cx="786384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</a:tblGrid>
              <a:tr h="731520"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方法</a:t>
                      </a:r>
                    </a:p>
                  </a:txBody>
                  <a:tcPr anchor="ctr" marL="164592" marR="16459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重建時間</a:t>
                      </a:r>
                    </a:p>
                  </a:txBody>
                  <a:tcPr anchor="ctr" marL="164592" marR="164592">
                    <a:solidFill>
                      <a:srgbClr val="2563E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傳統 3D 建模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原文估計：幾小時至半天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3DGS 實景重建</a:t>
                      </a:r>
                    </a:p>
                  </a:txBody>
                  <a:tcPr anchor="ctr" marL="164592" marR="164592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63048"/>
                          </a:solidFill>
                          <a:latin typeface="Noto Sans CJK TC"/>
                        </a:defRPr>
                      </a:pPr>
                      <a:r>
                        <a:t>預期目標：幾分鐘</a:t>
                      </a:r>
                    </a:p>
                  </a:txBody>
                  <a:tcPr anchor="ctr" marL="164592" marR="164592"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418320" y="6903720"/>
            <a:ext cx="804672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3D 模型示意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7589520"/>
            <a:ext cx="5166360" cy="118872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87552" y="7699248"/>
            <a:ext cx="48006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01 多角度影像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8183879"/>
            <a:ext cx="48006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無人機照片／影片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7955279"/>
            <a:ext cx="45720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7589520"/>
            <a:ext cx="5166360" cy="118872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793992" y="7699248"/>
            <a:ext cx="48006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02 3DGS 重建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8183879"/>
            <a:ext cx="48006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建立實景 3D 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14632" y="7955279"/>
            <a:ext cx="45720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435840" y="7589520"/>
            <a:ext cx="5166360" cy="118872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2600432" y="7699248"/>
            <a:ext cx="48006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03 幾何估算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00432" y="8183879"/>
            <a:ext cx="48006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估算尺寸、深度與體積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8961120"/>
            <a:ext cx="164592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06780"/>
                </a:solidFill>
                <a:latin typeface="Noto Sans CJK TC"/>
              </a:defRPr>
            </a:pPr>
            <a:r>
              <a:rPr>
                <a:latin typeface="Noto Sans CJK TC"/>
              </a:rPr>
              <a:t>註：重建時間與量測精度尚待驗證；實際結果受影像品質、硬體與場景影響。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710660" y="9646158"/>
            <a:ext cx="48006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>
                <a:latin typeface="Noto Sans CJK TC"/>
              </a:defRPr>
            </a:pPr>
            <a:r>
              <a:rPr lang="en-US" sz="1650" spc="2">
                <a:solidFill>
                  <a:srgbClr val="50678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0" y="3051793"/>
            <a:ext cx="3977640" cy="3660067"/>
            <a:chOff x="0" y="0"/>
            <a:chExt cx="5303520" cy="48800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03520" cy="4880089"/>
            </a:xfrm>
            <a:custGeom>
              <a:avLst/>
              <a:gdLst/>
              <a:ahLst/>
              <a:cxnLst/>
              <a:rect l="l" t="t" r="r" b="b"/>
              <a:pathLst>
                <a:path w="5303520" h="4880089">
                  <a:moveTo>
                    <a:pt x="0" y="813348"/>
                  </a:moveTo>
                  <a:cubicBezTo>
                    <a:pt x="0" y="364231"/>
                    <a:pt x="286639" y="0"/>
                    <a:pt x="640080" y="0"/>
                  </a:cubicBezTo>
                  <a:lnTo>
                    <a:pt x="4663440" y="0"/>
                  </a:lnTo>
                  <a:cubicBezTo>
                    <a:pt x="5017008" y="0"/>
                    <a:pt x="5303520" y="364231"/>
                    <a:pt x="5303520" y="813348"/>
                  </a:cubicBezTo>
                  <a:lnTo>
                    <a:pt x="5303520" y="4066741"/>
                  </a:lnTo>
                  <a:cubicBezTo>
                    <a:pt x="5303520" y="4516019"/>
                    <a:pt x="5016881" y="4880089"/>
                    <a:pt x="4663440" y="4880089"/>
                  </a:cubicBezTo>
                  <a:lnTo>
                    <a:pt x="640080" y="4880089"/>
                  </a:lnTo>
                  <a:cubicBezTo>
                    <a:pt x="286639" y="4880089"/>
                    <a:pt x="0" y="4515857"/>
                    <a:pt x="0" y="406674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491092" y="3419498"/>
            <a:ext cx="822960" cy="54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>
                <a:latin typeface="Noto Sans CJK TC"/>
              </a:defRPr>
            </a:pPr>
            <a:r>
              <a:rPr lang="en-US" sz="2400" b="1" spc="3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031468" y="3127248"/>
            <a:ext cx="3977640" cy="3584611"/>
            <a:chOff x="0" y="0"/>
            <a:chExt cx="5303520" cy="47794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03520" cy="4779482"/>
            </a:xfrm>
            <a:custGeom>
              <a:avLst/>
              <a:gdLst/>
              <a:ahLst/>
              <a:cxnLst/>
              <a:rect l="l" t="t" r="r" b="b"/>
              <a:pathLst>
                <a:path w="5303520" h="4779482">
                  <a:moveTo>
                    <a:pt x="0" y="796580"/>
                  </a:moveTo>
                  <a:cubicBezTo>
                    <a:pt x="0" y="356723"/>
                    <a:pt x="286639" y="0"/>
                    <a:pt x="640080" y="0"/>
                  </a:cubicBezTo>
                  <a:lnTo>
                    <a:pt x="4663440" y="0"/>
                  </a:lnTo>
                  <a:cubicBezTo>
                    <a:pt x="5017008" y="0"/>
                    <a:pt x="5303520" y="356723"/>
                    <a:pt x="5303520" y="796580"/>
                  </a:cubicBezTo>
                  <a:lnTo>
                    <a:pt x="5303520" y="3982901"/>
                  </a:lnTo>
                  <a:cubicBezTo>
                    <a:pt x="5303520" y="4422917"/>
                    <a:pt x="5016881" y="4779482"/>
                    <a:pt x="4663440" y="4779482"/>
                  </a:cubicBezTo>
                  <a:lnTo>
                    <a:pt x="640080" y="4779482"/>
                  </a:lnTo>
                  <a:cubicBezTo>
                    <a:pt x="286639" y="4779482"/>
                    <a:pt x="0" y="4422759"/>
                    <a:pt x="0" y="39829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10360" y="3318891"/>
            <a:ext cx="822960" cy="54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>
                <a:latin typeface="Noto Sans CJK TC"/>
              </a:defRPr>
            </a:pPr>
            <a:r>
              <a:rPr lang="en-US" sz="2400" b="1" spc="3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8650" y="933450"/>
            <a:ext cx="1632204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defRPr>
                <a:latin typeface="Noto Sans CJK TC"/>
              </a:defRPr>
            </a:pPr>
            <a:r>
              <a:rPr lang="en-US" sz="450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04資源調度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5967" y="3051793"/>
            <a:ext cx="3977640" cy="3660067"/>
            <a:chOff x="0" y="0"/>
            <a:chExt cx="5303520" cy="48800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03520" cy="4880089"/>
            </a:xfrm>
            <a:custGeom>
              <a:avLst/>
              <a:gdLst/>
              <a:ahLst/>
              <a:cxnLst/>
              <a:rect l="l" t="t" r="r" b="b"/>
              <a:pathLst>
                <a:path w="5303520" h="4880089">
                  <a:moveTo>
                    <a:pt x="0" y="813348"/>
                  </a:moveTo>
                  <a:cubicBezTo>
                    <a:pt x="0" y="364231"/>
                    <a:pt x="286639" y="0"/>
                    <a:pt x="640080" y="0"/>
                  </a:cubicBezTo>
                  <a:lnTo>
                    <a:pt x="4663440" y="0"/>
                  </a:lnTo>
                  <a:cubicBezTo>
                    <a:pt x="5017008" y="0"/>
                    <a:pt x="5303520" y="364231"/>
                    <a:pt x="5303520" y="813348"/>
                  </a:cubicBezTo>
                  <a:lnTo>
                    <a:pt x="5303520" y="4066741"/>
                  </a:lnTo>
                  <a:cubicBezTo>
                    <a:pt x="5303520" y="4516019"/>
                    <a:pt x="5016881" y="4880089"/>
                    <a:pt x="4663440" y="4880089"/>
                  </a:cubicBezTo>
                  <a:lnTo>
                    <a:pt x="640080" y="4880089"/>
                  </a:lnTo>
                  <a:cubicBezTo>
                    <a:pt x="286639" y="4880089"/>
                    <a:pt x="0" y="4515857"/>
                    <a:pt x="0" y="406674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91540" y="3318891"/>
            <a:ext cx="82296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>
                <a:latin typeface="Noto Sans CJK TC"/>
              </a:defRPr>
            </a:pPr>
            <a:r>
              <a:rPr lang="en-US" sz="2400" b="1" spc="3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2486" y="4285360"/>
            <a:ext cx="3563469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透過ai去分析幾何圖形體積、長寬深度、工時與人力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751158" y="3051793"/>
            <a:ext cx="3977640" cy="3660067"/>
            <a:chOff x="0" y="0"/>
            <a:chExt cx="5303520" cy="48800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03520" cy="4880089"/>
            </a:xfrm>
            <a:custGeom>
              <a:avLst/>
              <a:gdLst/>
              <a:ahLst/>
              <a:cxnLst/>
              <a:rect l="l" t="t" r="r" b="b"/>
              <a:pathLst>
                <a:path w="5303520" h="4880089">
                  <a:moveTo>
                    <a:pt x="0" y="813348"/>
                  </a:moveTo>
                  <a:cubicBezTo>
                    <a:pt x="0" y="364231"/>
                    <a:pt x="286639" y="0"/>
                    <a:pt x="640080" y="0"/>
                  </a:cubicBezTo>
                  <a:lnTo>
                    <a:pt x="4663440" y="0"/>
                  </a:lnTo>
                  <a:cubicBezTo>
                    <a:pt x="5017008" y="0"/>
                    <a:pt x="5303520" y="364231"/>
                    <a:pt x="5303520" y="813348"/>
                  </a:cubicBezTo>
                  <a:lnTo>
                    <a:pt x="5303520" y="4066741"/>
                  </a:lnTo>
                  <a:cubicBezTo>
                    <a:pt x="5303520" y="4516019"/>
                    <a:pt x="5016881" y="4880089"/>
                    <a:pt x="4663440" y="4880089"/>
                  </a:cubicBezTo>
                  <a:lnTo>
                    <a:pt x="640080" y="4880089"/>
                  </a:lnTo>
                  <a:cubicBezTo>
                    <a:pt x="286639" y="4880089"/>
                    <a:pt x="0" y="4515857"/>
                    <a:pt x="0" y="406674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017770" y="3413379"/>
            <a:ext cx="82296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>
                <a:latin typeface="Noto Sans CJK TC"/>
              </a:defRPr>
            </a:pPr>
            <a:r>
              <a:rPr lang="en-US" sz="2400" b="1" spc="3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58243" y="4285360"/>
            <a:ext cx="3563469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估算填充材料(水泥混凝土、瀝青混合料等等)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51085" y="4097944"/>
            <a:ext cx="3563469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考量修復的優先順序，例如機場有五個坑洞，修復其中兩個就能達成飛機起飛。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83564" y="4001145"/>
            <a:ext cx="3563469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  <a:defRPr>
                <a:latin typeface="Noto Sans CJK TC"/>
              </a:defRPr>
            </a:pPr>
            <a:r>
              <a:rPr lang="en-US" sz="3150">
                <a:solidFill>
                  <a:srgbClr val="00000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ai給出最後的分配清單，給出一個模擬評估報告書，例如坑洞尺寸與材料需求等等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37260" y="1066038"/>
            <a:ext cx="16322040" cy="1453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defRPr>
                <a:latin typeface="Noto Sans CJK TC"/>
              </a:defRPr>
            </a:pPr>
            <a:r>
              <a:rPr lang="en-US" sz="450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參、預期效益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10660" y="9646158"/>
            <a:ext cx="48006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>
                <a:latin typeface="Noto Sans CJK TC"/>
              </a:defRPr>
            </a:pPr>
            <a:r>
              <a:rPr lang="en-US" sz="1650" spc="2">
                <a:solidFill>
                  <a:srgbClr val="50678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09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24712" y="2798064"/>
            <a:ext cx="7886700" cy="2276856"/>
            <a:chOff x="0" y="0"/>
            <a:chExt cx="10515600" cy="30358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15600" cy="3035808"/>
            </a:xfrm>
            <a:custGeom>
              <a:avLst/>
              <a:gdLst/>
              <a:ahLst/>
              <a:cxnLst/>
              <a:rect l="l" t="t" r="r" b="b"/>
              <a:pathLst>
                <a:path w="10515600" h="3035808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10009632" y="0"/>
                  </a:lnTo>
                  <a:cubicBezTo>
                    <a:pt x="10289032" y="0"/>
                    <a:pt x="10515600" y="226568"/>
                    <a:pt x="10515600" y="505968"/>
                  </a:cubicBezTo>
                  <a:lnTo>
                    <a:pt x="10515600" y="2529840"/>
                  </a:lnTo>
                  <a:cubicBezTo>
                    <a:pt x="10515600" y="2809240"/>
                    <a:pt x="10289032" y="3035808"/>
                    <a:pt x="10009632" y="3035808"/>
                  </a:cubicBezTo>
                  <a:lnTo>
                    <a:pt x="505968" y="3035808"/>
                  </a:lnTo>
                  <a:cubicBezTo>
                    <a:pt x="226568" y="3035808"/>
                    <a:pt x="0" y="2809240"/>
                    <a:pt x="0" y="25298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72184" y="3014853"/>
            <a:ext cx="706374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defRPr>
                <a:latin typeface="Noto Sans CJK TC"/>
              </a:defRPr>
            </a:pPr>
            <a:r>
              <a:rPr lang="en-US" sz="3300" b="1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提升災損辨識效率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184" y="3709035"/>
            <a:ext cx="568120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  <a:defRPr>
                <a:latin typeface="Noto Sans CJK TC"/>
              </a:defRPr>
            </a:pPr>
            <a:r>
              <a:rPr lang="en-US" sz="25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透過無人機多張照篇與影像，讓3DGS能有效建構出坑洞3D模型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560052" y="2798064"/>
            <a:ext cx="7886700" cy="2276856"/>
            <a:chOff x="0" y="0"/>
            <a:chExt cx="10515600" cy="3035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15600" cy="3035808"/>
            </a:xfrm>
            <a:custGeom>
              <a:avLst/>
              <a:gdLst/>
              <a:ahLst/>
              <a:cxnLst/>
              <a:rect l="l" t="t" r="r" b="b"/>
              <a:pathLst>
                <a:path w="10515600" h="3035808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10009632" y="0"/>
                  </a:lnTo>
                  <a:cubicBezTo>
                    <a:pt x="10289032" y="0"/>
                    <a:pt x="10515600" y="226568"/>
                    <a:pt x="10515600" y="505968"/>
                  </a:cubicBezTo>
                  <a:lnTo>
                    <a:pt x="10515600" y="2529840"/>
                  </a:lnTo>
                  <a:cubicBezTo>
                    <a:pt x="10515600" y="2809240"/>
                    <a:pt x="10289032" y="3035808"/>
                    <a:pt x="10009632" y="3035808"/>
                  </a:cubicBezTo>
                  <a:lnTo>
                    <a:pt x="505968" y="3035808"/>
                  </a:lnTo>
                  <a:cubicBezTo>
                    <a:pt x="226568" y="3035808"/>
                    <a:pt x="0" y="2809240"/>
                    <a:pt x="0" y="25298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07524" y="3014853"/>
            <a:ext cx="706374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defRPr>
                <a:latin typeface="Noto Sans CJK TC"/>
              </a:defRPr>
            </a:pPr>
            <a:r>
              <a:rPr lang="en-US" sz="3300" b="1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資源分配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07524" y="4021455"/>
            <a:ext cx="699516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  <a:defRPr>
                <a:latin typeface="Noto Sans CJK TC"/>
              </a:defRPr>
            </a:pPr>
            <a:r>
              <a:rPr lang="en-US" sz="25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ai能藉由3D模型去測量坑洞的體積與深度，再有效分配人力與資源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24712" y="5472684"/>
            <a:ext cx="7886700" cy="2276856"/>
            <a:chOff x="0" y="0"/>
            <a:chExt cx="10515600" cy="3035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15600" cy="3035808"/>
            </a:xfrm>
            <a:custGeom>
              <a:avLst/>
              <a:gdLst/>
              <a:ahLst/>
              <a:cxnLst/>
              <a:rect l="l" t="t" r="r" b="b"/>
              <a:pathLst>
                <a:path w="10515600" h="3035808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10009632" y="0"/>
                  </a:lnTo>
                  <a:cubicBezTo>
                    <a:pt x="10289032" y="0"/>
                    <a:pt x="10515600" y="226568"/>
                    <a:pt x="10515600" y="505968"/>
                  </a:cubicBezTo>
                  <a:lnTo>
                    <a:pt x="10515600" y="2529840"/>
                  </a:lnTo>
                  <a:cubicBezTo>
                    <a:pt x="10515600" y="2809240"/>
                    <a:pt x="10289032" y="3035808"/>
                    <a:pt x="10009632" y="3035808"/>
                  </a:cubicBezTo>
                  <a:lnTo>
                    <a:pt x="505968" y="3035808"/>
                  </a:lnTo>
                  <a:cubicBezTo>
                    <a:pt x="226568" y="3035808"/>
                    <a:pt x="0" y="2809240"/>
                    <a:pt x="0" y="25298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72184" y="5689473"/>
            <a:ext cx="706374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defRPr>
                <a:latin typeface="Noto Sans CJK TC"/>
              </a:defRPr>
            </a:pPr>
            <a:r>
              <a:rPr lang="en-US" sz="3300" b="1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降低人工風險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2184" y="6696075"/>
            <a:ext cx="699516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  <a:defRPr>
                <a:latin typeface="Noto Sans CJK TC"/>
              </a:defRPr>
            </a:pPr>
            <a:r>
              <a:rPr lang="en-US" sz="25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不用傳統人力去測量，改用無人機取代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560052" y="5472684"/>
            <a:ext cx="7886700" cy="2276856"/>
            <a:chOff x="0" y="0"/>
            <a:chExt cx="10515600" cy="3035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15600" cy="3035808"/>
            </a:xfrm>
            <a:custGeom>
              <a:avLst/>
              <a:gdLst/>
              <a:ahLst/>
              <a:cxnLst/>
              <a:rect l="l" t="t" r="r" b="b"/>
              <a:pathLst>
                <a:path w="10515600" h="3035808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10009632" y="0"/>
                  </a:lnTo>
                  <a:cubicBezTo>
                    <a:pt x="10289032" y="0"/>
                    <a:pt x="10515600" y="226568"/>
                    <a:pt x="10515600" y="505968"/>
                  </a:cubicBezTo>
                  <a:lnTo>
                    <a:pt x="10515600" y="2529840"/>
                  </a:lnTo>
                  <a:cubicBezTo>
                    <a:pt x="10515600" y="2809240"/>
                    <a:pt x="10289032" y="3035808"/>
                    <a:pt x="10009632" y="3035808"/>
                  </a:cubicBezTo>
                  <a:lnTo>
                    <a:pt x="505968" y="3035808"/>
                  </a:lnTo>
                  <a:cubicBezTo>
                    <a:pt x="226568" y="3035808"/>
                    <a:pt x="0" y="2809240"/>
                    <a:pt x="0" y="25298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907524" y="5689473"/>
            <a:ext cx="706374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defRPr>
                <a:latin typeface="Noto Sans CJK TC"/>
              </a:defRPr>
            </a:pPr>
            <a:r>
              <a:rPr lang="en-US" sz="3300" b="1">
                <a:solidFill>
                  <a:srgbClr val="2563EB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增加修復效率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07524" y="6696075"/>
            <a:ext cx="699516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  <a:defRPr>
                <a:latin typeface="Noto Sans CJK TC"/>
              </a:defRPr>
            </a:pPr>
            <a:r>
              <a:rPr lang="en-US" sz="255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藉由ai的調度達到修復效率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0332720" y="2423160"/>
            <a:ext cx="7132320" cy="4754880"/>
          </a:xfrm>
          <a:custGeom>
            <a:avLst/>
            <a:gdLst/>
            <a:ahLst/>
            <a:cxnLst/>
            <a:rect l="l" t="t" r="r" b="b"/>
            <a:pathLst>
              <a:path w="8099129" h="5399419">
                <a:moveTo>
                  <a:pt x="0" y="0"/>
                </a:moveTo>
                <a:lnTo>
                  <a:pt x="8099128" y="0"/>
                </a:lnTo>
                <a:lnTo>
                  <a:pt x="8099128" y="5399419"/>
                </a:lnTo>
                <a:lnTo>
                  <a:pt x="0" y="5399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>
            <a:pPr>
              <a:defRPr>
                <a:latin typeface="Noto Sans CJK TC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8288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640080"/>
            <a:ext cx="16459200" cy="1005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肆、驗證方式｜Blender 模擬跑道受損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555480"/>
            <a:ext cx="14630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06780"/>
                </a:solidFill>
                <a:latin typeface="Noto Sans CJK TC"/>
              </a:defRPr>
            </a:pPr>
            <a:r>
              <a:rPr>
                <a:latin typeface="Noto Sans CJK TC"/>
              </a:rPr>
              <a:t>AI 彈坑快修  /  從影像辨識到快速評估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0" y="9509760"/>
            <a:ext cx="9144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1645920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情境：兩座機場跑道受損，驗證辨識、估算與調度流程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8641080" cy="132588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8"/>
            <a:ext cx="813816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01 建立模擬場景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01568"/>
            <a:ext cx="813816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Blender 製作地圖與跑道彈坑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41648"/>
            <a:ext cx="9144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34840"/>
            <a:ext cx="8641080" cy="132588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51560" y="4544568"/>
            <a:ext cx="813816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02 判讀災損資訊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093207"/>
            <a:ext cx="813816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辨識坑洞數目，估算各坑洞體積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733288"/>
            <a:ext cx="9144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6126480"/>
            <a:ext cx="8641080" cy="132588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051560" y="6236208"/>
            <a:ext cx="813816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03 規劃修補作業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784848"/>
            <a:ext cx="813816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AI 提出資源分配與修補順序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7315200"/>
            <a:ext cx="713232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63EB"/>
                </a:solidFill>
                <a:latin typeface="Noto Sans CJK TC"/>
              </a:defRPr>
            </a:pPr>
            <a:r>
              <a:rPr>
                <a:latin typeface="Noto Sans CJK TC"/>
              </a:rPr>
              <a:t>Blender 模擬場景示意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8229600"/>
            <a:ext cx="16642080" cy="822960"/>
          </a:xfrm>
          <a:prstGeom prst="roundRect">
            <a:avLst/>
          </a:prstGeom>
          <a:solidFill>
            <a:srgbClr val="EA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T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024128" y="8366760"/>
            <a:ext cx="1627632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048"/>
                </a:solidFill>
                <a:latin typeface="Noto Sans CJK TC"/>
              </a:defRPr>
            </a:pPr>
            <a:r>
              <a:rPr>
                <a:latin typeface="Noto Sans CJK TC"/>
              </a:rPr>
              <a:t>建議檢核：辨識數量是否正確 → 體積估算誤差 → 修補方案是否可行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64592"/>
            <a:chOff x="0" y="0"/>
            <a:chExt cx="24377904" cy="219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9456"/>
            </a:xfrm>
            <a:custGeom>
              <a:avLst/>
              <a:gdLst/>
              <a:ahLst/>
              <a:cxnLst/>
              <a:rect l="l" t="t" r="r" b="b"/>
              <a:pathLst>
                <a:path w="24377904" h="219456">
                  <a:moveTo>
                    <a:pt x="0" y="0"/>
                  </a:moveTo>
                  <a:lnTo>
                    <a:pt x="24377904" y="0"/>
                  </a:lnTo>
                  <a:lnTo>
                    <a:pt x="24377904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1540" y="9505188"/>
            <a:ext cx="16459200" cy="24689"/>
            <a:chOff x="0" y="0"/>
            <a:chExt cx="21945600" cy="32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2893"/>
            </a:xfrm>
            <a:custGeom>
              <a:avLst/>
              <a:gdLst/>
              <a:ahLst/>
              <a:cxnLst/>
              <a:rect l="l" t="t" r="r" b="b"/>
              <a:pathLst>
                <a:path w="21945600" h="32893">
                  <a:moveTo>
                    <a:pt x="0" y="0"/>
                  </a:moveTo>
                  <a:lnTo>
                    <a:pt x="21945600" y="0"/>
                  </a:lnTo>
                  <a:lnTo>
                    <a:pt x="2194560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CE8FA"/>
            </a:solidFill>
          </p:spPr>
          <p:txBody>
            <a:bodyPr/>
            <a:p>
              <a:pPr>
                <a:defRPr>
                  <a:latin typeface="Noto Sans CJK TC"/>
                </a:defRPr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710660" y="9646158"/>
            <a:ext cx="48006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>
                <a:latin typeface="Noto Sans CJK TC"/>
              </a:defRPr>
            </a:pPr>
            <a:r>
              <a:rPr lang="en-US" sz="1650" spc="2">
                <a:solidFill>
                  <a:srgbClr val="506780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09411" y="3355154"/>
            <a:ext cx="3901693" cy="234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3"/>
              </a:lnSpc>
              <a:defRPr>
                <a:latin typeface="Noto Sans CJK TC"/>
              </a:defRPr>
            </a:pPr>
            <a:r>
              <a:rPr lang="en-US" sz="721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報告完畢</a:t>
            </a:r>
          </a:p>
          <a:p>
            <a:pPr algn="l">
              <a:lnSpc>
                <a:spcPts val="8653"/>
              </a:lnSpc>
              <a:defRPr>
                <a:latin typeface="Noto Sans CJK TC"/>
              </a:defRPr>
            </a:pPr>
            <a:r>
              <a:rPr lang="en-US" sz="7210" b="1">
                <a:solidFill>
                  <a:srgbClr val="163048"/>
                </a:solidFill>
                <a:latin typeface="Noto Sans CJK TC"/>
                <a:ea typeface="Noto Sans CJK TC"/>
                <a:cs typeface="Noto Sans CJK TC"/>
                <a:sym typeface="Noto Sans CJK TC"/>
              </a:rPr>
              <a:t>恭請指教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563EB"/>
      </a:accent1>
      <a:accent2>
        <a:srgbClr val="163048"/>
      </a:accent2>
      <a:accent3>
        <a:srgbClr val="60A5FA"/>
      </a:accent3>
      <a:accent4>
        <a:srgbClr val="93C5FD"/>
      </a:accent4>
      <a:accent5>
        <a:srgbClr val="3B82F6"/>
      </a:accent5>
      <a:accent6>
        <a:srgbClr val="1E40A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242</Words>
  <Application>Microsoft Office PowerPoint</Application>
  <PresentationFormat>自訂</PresentationFormat>
  <Paragraphs>74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Arimo</vt:lpstr>
      <vt:lpstr>Calibri</vt:lpstr>
      <vt:lpstr>Calibri (MS) Bold</vt:lpstr>
      <vt:lpstr>Arial</vt:lpstr>
      <vt:lpstr>Arimo Bold</vt:lpstr>
      <vt:lpstr>Calibri (MS)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%E5%9C%8B%E9%98%B2%E5%A0%B1%E5%91%8A_%E7%B2%BE%E7%B0%A1%E5%9C%96%E6%96%87%E5%84%AA%E5%8C%96%E7%89%88.pptx</dc:title>
  <dc:creator>陳宥翔</dc:creator>
  <cp:lastModifiedBy>宥翔 陳</cp:lastModifiedBy>
  <cp:revision>2</cp:revision>
  <dcterms:created xsi:type="dcterms:W3CDTF">2006-08-16T00:00:00Z</dcterms:created>
  <dcterms:modified xsi:type="dcterms:W3CDTF">2026-10-09T07:12:14Z</dcterms:modified>
  <dc:identifier>DAHXe8Viva8</dc:identifier>
</cp:coreProperties>
</file>