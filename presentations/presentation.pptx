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1"/>
    <p:sldMasterId id="214748372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6" r:id="rId14"/>
  </p:sldIdLst>
  <p:sldSz cx="18288000" cy="10287000"/>
  <p:notesSz cx="6858000" cy="9144000"/>
  <p:embeddedFontLst>
    <p:embeddedFont>
      <p:font typeface="標楷體" panose="03000509000000000000" pitchFamily="65" charset="-120"/>
      <p:regular r:id="rId15"/>
    </p:embeddedFont>
  </p:embeddedFontLst>
  <p:defaultTextStyle>
    <a:defPPr>
      <a:defRPr lang="en-US">
        <a:latin typeface="標楷體"/>
        <a:ea typeface="標楷體"/>
        <a:cs typeface="標楷體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標楷體"/>
        <a:ea typeface="標楷體"/>
        <a:cs typeface="標楷體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標楷體"/>
        <a:ea typeface="標楷體"/>
        <a:cs typeface="標楷體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標楷體"/>
        <a:ea typeface="標楷體"/>
        <a:cs typeface="標楷體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標楷體"/>
        <a:ea typeface="標楷體"/>
        <a:cs typeface="標楷體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標楷體"/>
        <a:ea typeface="標楷體"/>
        <a:cs typeface="標楷體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標楷體"/>
        <a:ea typeface="標楷體"/>
        <a:cs typeface="標楷體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標楷體"/>
        <a:ea typeface="標楷體"/>
        <a:cs typeface="標楷體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標楷體"/>
        <a:ea typeface="標楷體"/>
        <a:cs typeface="標楷體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標楷體"/>
        <a:ea typeface="標楷體"/>
        <a:cs typeface="標楷體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4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1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6795"/>
            <a:ext cx="13716000" cy="3581400"/>
          </a:xfrm>
        </p:spPr>
        <p:txBody>
          <a:bodyPr anchor="b">
            <a:normAutofit/>
          </a:bodyPr>
          <a:lstStyle>
            <a:lvl1pPr algn="ctr">
              <a:defRPr sz="9000">
                <a:latin typeface="標楷體"/>
                <a:ea typeface="標楷體"/>
                <a:cs typeface="標楷體"/>
              </a:defRPr>
            </a:lvl1pPr>
          </a:lstStyle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標楷體"/>
                <a:ea typeface="標楷體"/>
                <a:cs typeface="標楷體"/>
              </a:defRPr>
            </a:lvl1pPr>
            <a:lvl2pPr marL="685800" indent="0" algn="ctr">
              <a:buNone/>
              <a:defRPr sz="4200">
                <a:latin typeface="標楷體"/>
                <a:ea typeface="標楷體"/>
                <a:cs typeface="標楷體"/>
              </a:defRPr>
            </a:lvl2pPr>
            <a:lvl3pPr marL="1371600" indent="0" algn="ctr">
              <a:buNone/>
              <a:defRPr sz="3600">
                <a:latin typeface="標楷體"/>
                <a:ea typeface="標楷體"/>
                <a:cs typeface="標楷體"/>
              </a:defRPr>
            </a:lvl3pPr>
            <a:lvl4pPr marL="2057400" indent="0" algn="ctr">
              <a:buNone/>
              <a:defRPr sz="3000">
                <a:latin typeface="標楷體"/>
                <a:ea typeface="標楷體"/>
                <a:cs typeface="標楷體"/>
              </a:defRPr>
            </a:lvl4pPr>
            <a:lvl5pPr marL="2743200" indent="0" algn="ctr">
              <a:buNone/>
              <a:defRPr sz="3000">
                <a:latin typeface="標楷體"/>
                <a:ea typeface="標楷體"/>
                <a:cs typeface="標楷體"/>
              </a:defRPr>
            </a:lvl5pPr>
            <a:lvl6pPr marL="3429000" indent="0" algn="ctr">
              <a:buNone/>
              <a:defRPr sz="3000">
                <a:latin typeface="標楷體"/>
                <a:ea typeface="標楷體"/>
                <a:cs typeface="標楷體"/>
              </a:defRPr>
            </a:lvl6pPr>
            <a:lvl7pPr marL="4114800" indent="0" algn="ctr">
              <a:buNone/>
              <a:defRPr sz="3000">
                <a:latin typeface="標楷體"/>
                <a:ea typeface="標楷體"/>
                <a:cs typeface="標楷體"/>
              </a:defRPr>
            </a:lvl7pPr>
            <a:lvl8pPr marL="4800600" indent="0" algn="ctr">
              <a:buNone/>
              <a:defRPr sz="3000">
                <a:latin typeface="標楷體"/>
                <a:ea typeface="標楷體"/>
                <a:cs typeface="標楷體"/>
              </a:defRPr>
            </a:lvl8pPr>
            <a:lvl9pPr marL="5486400" indent="0" algn="ctr">
              <a:buNone/>
              <a:defRPr sz="3000">
                <a:latin typeface="標楷體"/>
                <a:ea typeface="標楷體"/>
                <a:cs typeface="標楷體"/>
              </a:defRPr>
            </a:lvl9pPr>
          </a:lstStyle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按一下以編輯母片子標題樣式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76896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545191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8635"/>
            <a:ext cx="15773400" cy="4276812"/>
          </a:xfrm>
        </p:spPr>
        <p:txBody>
          <a:bodyPr anchor="b">
            <a:normAutofit/>
          </a:bodyPr>
          <a:lstStyle>
            <a:lvl1pPr>
              <a:defRPr sz="9000" b="0">
                <a:latin typeface="標楷體"/>
                <a:ea typeface="標楷體"/>
                <a:cs typeface="標楷體"/>
              </a:defRPr>
            </a:lvl1pPr>
          </a:lstStyle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28950"/>
            <a:ext cx="15773400" cy="2250281"/>
          </a:xfrm>
        </p:spPr>
        <p:txBody>
          <a:bodyPr anchor="t">
            <a:normAutofit/>
          </a:bodyPr>
          <a:lstStyle>
            <a:lvl1pPr marL="0" indent="0"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標楷體"/>
                <a:ea typeface="標楷體"/>
                <a:cs typeface="標楷體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54639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7691" y="2743201"/>
            <a:ext cx="7772400" cy="6527006"/>
          </a:xfrm>
        </p:spPr>
        <p:txBody>
          <a:bodyPr/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43201"/>
            <a:ext cx="7772400" cy="6527006"/>
          </a:xfrm>
        </p:spPr>
        <p:txBody>
          <a:bodyPr/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4277344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7691" y="2522776"/>
            <a:ext cx="7734300" cy="123854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3600" b="1">
                <a:latin typeface="標楷體"/>
                <a:ea typeface="標楷體"/>
                <a:cs typeface="標楷體"/>
              </a:defRPr>
            </a:lvl1pPr>
            <a:lvl2pPr marL="685800" indent="0">
              <a:buNone/>
              <a:defRPr sz="3000" b="1">
                <a:latin typeface="標楷體"/>
                <a:ea typeface="標楷體"/>
                <a:cs typeface="標楷體"/>
              </a:defRPr>
            </a:lvl2pPr>
            <a:lvl3pPr marL="1371600" indent="0">
              <a:buNone/>
              <a:defRPr sz="2700" b="1">
                <a:latin typeface="標楷體"/>
                <a:ea typeface="標楷體"/>
                <a:cs typeface="標楷體"/>
              </a:defRPr>
            </a:lvl3pPr>
            <a:lvl4pPr marL="2057400" indent="0">
              <a:buNone/>
              <a:defRPr sz="2400" b="1">
                <a:latin typeface="標楷體"/>
                <a:ea typeface="標楷體"/>
                <a:cs typeface="標楷體"/>
              </a:defRPr>
            </a:lvl4pPr>
            <a:lvl5pPr marL="2743200" indent="0">
              <a:buNone/>
              <a:defRPr sz="2400" b="1">
                <a:latin typeface="標楷體"/>
                <a:ea typeface="標楷體"/>
                <a:cs typeface="標楷體"/>
              </a:defRPr>
            </a:lvl5pPr>
            <a:lvl6pPr marL="3429000" indent="0">
              <a:buNone/>
              <a:defRPr sz="2400" b="1">
                <a:latin typeface="標楷體"/>
                <a:ea typeface="標楷體"/>
                <a:cs typeface="標楷體"/>
              </a:defRPr>
            </a:lvl6pPr>
            <a:lvl7pPr marL="4114800" indent="0">
              <a:buNone/>
              <a:defRPr sz="2400" b="1">
                <a:latin typeface="標楷體"/>
                <a:ea typeface="標楷體"/>
                <a:cs typeface="標楷體"/>
              </a:defRPr>
            </a:lvl7pPr>
            <a:lvl8pPr marL="4800600" indent="0">
              <a:buNone/>
              <a:defRPr sz="2400" b="1">
                <a:latin typeface="標楷體"/>
                <a:ea typeface="標楷體"/>
                <a:cs typeface="標楷體"/>
              </a:defRPr>
            </a:lvl8pPr>
            <a:lvl9pPr marL="5486400" indent="0">
              <a:buNone/>
              <a:defRPr sz="2400" b="1">
                <a:latin typeface="標楷體"/>
                <a:ea typeface="標楷體"/>
                <a:cs typeface="標楷體"/>
              </a:defRPr>
            </a:lvl9pPr>
          </a:lstStyle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7691" y="3761326"/>
            <a:ext cx="7734300" cy="5520788"/>
          </a:xfrm>
        </p:spPr>
        <p:txBody>
          <a:bodyPr/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2522777"/>
            <a:ext cx="7772402" cy="1238547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3600" b="1">
                <a:latin typeface="標楷體"/>
                <a:ea typeface="標楷體"/>
                <a:cs typeface="標楷體"/>
              </a:defRPr>
            </a:lvl1pPr>
            <a:lvl2pPr marL="685800" indent="0">
              <a:buNone/>
              <a:defRPr sz="3000" b="1">
                <a:latin typeface="標楷體"/>
                <a:ea typeface="標楷體"/>
                <a:cs typeface="標楷體"/>
              </a:defRPr>
            </a:lvl2pPr>
            <a:lvl3pPr marL="1371600" indent="0">
              <a:buNone/>
              <a:defRPr sz="2700" b="1">
                <a:latin typeface="標楷體"/>
                <a:ea typeface="標楷體"/>
                <a:cs typeface="標楷體"/>
              </a:defRPr>
            </a:lvl3pPr>
            <a:lvl4pPr marL="2057400" indent="0">
              <a:buNone/>
              <a:defRPr sz="2400" b="1">
                <a:latin typeface="標楷體"/>
                <a:ea typeface="標楷體"/>
                <a:cs typeface="標楷體"/>
              </a:defRPr>
            </a:lvl4pPr>
            <a:lvl5pPr marL="2743200" indent="0">
              <a:buNone/>
              <a:defRPr sz="2400" b="1">
                <a:latin typeface="標楷體"/>
                <a:ea typeface="標楷體"/>
                <a:cs typeface="標楷體"/>
              </a:defRPr>
            </a:lvl5pPr>
            <a:lvl6pPr marL="3429000" indent="0">
              <a:buNone/>
              <a:defRPr sz="2400" b="1">
                <a:latin typeface="標楷體"/>
                <a:ea typeface="標楷體"/>
                <a:cs typeface="標楷體"/>
              </a:defRPr>
            </a:lvl6pPr>
            <a:lvl7pPr marL="4114800" indent="0">
              <a:buNone/>
              <a:defRPr sz="2400" b="1">
                <a:latin typeface="標楷體"/>
                <a:ea typeface="標楷體"/>
                <a:cs typeface="標楷體"/>
              </a:defRPr>
            </a:lvl7pPr>
            <a:lvl8pPr marL="4800600" indent="0">
              <a:buNone/>
              <a:defRPr sz="2400" b="1">
                <a:latin typeface="標楷體"/>
                <a:ea typeface="標楷體"/>
                <a:cs typeface="標楷體"/>
              </a:defRPr>
            </a:lvl8pPr>
            <a:lvl9pPr marL="5486400" indent="0">
              <a:buNone/>
              <a:defRPr sz="2400" b="1">
                <a:latin typeface="標楷體"/>
                <a:ea typeface="標楷體"/>
                <a:cs typeface="標楷體"/>
              </a:defRPr>
            </a:lvl9pPr>
          </a:lstStyle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3761326"/>
            <a:ext cx="7772402" cy="5520788"/>
          </a:xfrm>
        </p:spPr>
        <p:txBody>
          <a:bodyPr/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447989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01692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824905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685801"/>
            <a:ext cx="5897880" cy="2400296"/>
          </a:xfrm>
        </p:spPr>
        <p:txBody>
          <a:bodyPr anchor="b">
            <a:normAutofit/>
          </a:bodyPr>
          <a:lstStyle>
            <a:lvl1pPr>
              <a:defRPr sz="4800" b="0">
                <a:latin typeface="標楷體"/>
                <a:ea typeface="標楷體"/>
                <a:cs typeface="標楷體"/>
              </a:defRPr>
            </a:lvl1pPr>
          </a:lstStyle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0" y="1485900"/>
            <a:ext cx="9258300" cy="7315200"/>
          </a:xfrm>
        </p:spPr>
        <p:txBody>
          <a:bodyPr/>
          <a:lstStyle>
            <a:lvl1pPr>
              <a:defRPr sz="4800">
                <a:latin typeface="標楷體"/>
                <a:ea typeface="標楷體"/>
                <a:cs typeface="標楷體"/>
              </a:defRPr>
            </a:lvl1pPr>
            <a:lvl2pPr>
              <a:defRPr sz="4200">
                <a:latin typeface="標楷體"/>
                <a:ea typeface="標楷體"/>
                <a:cs typeface="標楷體"/>
              </a:defRPr>
            </a:lvl2pPr>
            <a:lvl3pPr>
              <a:defRPr sz="3600">
                <a:latin typeface="標楷體"/>
                <a:ea typeface="標楷體"/>
                <a:cs typeface="標楷體"/>
              </a:defRPr>
            </a:lvl3pPr>
            <a:lvl4pPr>
              <a:defRPr sz="3000">
                <a:latin typeface="標楷體"/>
                <a:ea typeface="標楷體"/>
                <a:cs typeface="標楷體"/>
              </a:defRPr>
            </a:lvl4pPr>
            <a:lvl5pPr>
              <a:defRPr sz="3000">
                <a:latin typeface="標楷體"/>
                <a:ea typeface="標楷體"/>
                <a:cs typeface="標楷體"/>
              </a:defRPr>
            </a:lvl5pPr>
            <a:lvl6pPr>
              <a:defRPr sz="3000">
                <a:latin typeface="標楷體"/>
                <a:ea typeface="標楷體"/>
                <a:cs typeface="標楷體"/>
              </a:defRPr>
            </a:lvl6pPr>
            <a:lvl7pPr>
              <a:defRPr sz="3000">
                <a:latin typeface="標楷體"/>
                <a:ea typeface="標楷體"/>
                <a:cs typeface="標楷體"/>
              </a:defRPr>
            </a:lvl7pPr>
            <a:lvl8pPr>
              <a:defRPr sz="3000">
                <a:latin typeface="標楷體"/>
                <a:ea typeface="標楷體"/>
                <a:cs typeface="標楷體"/>
              </a:defRPr>
            </a:lvl8pPr>
            <a:lvl9pPr>
              <a:defRPr sz="3000">
                <a:latin typeface="標楷體"/>
                <a:ea typeface="標楷體"/>
                <a:cs typeface="標楷體"/>
              </a:defRPr>
            </a:lvl9pPr>
          </a:lstStyle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1872" y="3086099"/>
            <a:ext cx="5897880" cy="571500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400">
                <a:latin typeface="標楷體"/>
                <a:ea typeface="標楷體"/>
                <a:cs typeface="標楷體"/>
              </a:defRPr>
            </a:lvl1pPr>
            <a:lvl2pPr marL="685800" indent="0">
              <a:buNone/>
              <a:defRPr sz="1800">
                <a:latin typeface="標楷體"/>
                <a:ea typeface="標楷體"/>
                <a:cs typeface="標楷體"/>
              </a:defRPr>
            </a:lvl2pPr>
            <a:lvl3pPr marL="1371600" indent="0">
              <a:buNone/>
              <a:defRPr sz="1500">
                <a:latin typeface="標楷體"/>
                <a:ea typeface="標楷體"/>
                <a:cs typeface="標楷體"/>
              </a:defRPr>
            </a:lvl3pPr>
            <a:lvl4pPr marL="2057400" indent="0">
              <a:buNone/>
              <a:defRPr sz="1350">
                <a:latin typeface="標楷體"/>
                <a:ea typeface="標楷體"/>
                <a:cs typeface="標楷體"/>
              </a:defRPr>
            </a:lvl4pPr>
            <a:lvl5pPr marL="2743200" indent="0">
              <a:buNone/>
              <a:defRPr sz="1350">
                <a:latin typeface="標楷體"/>
                <a:ea typeface="標楷體"/>
                <a:cs typeface="標楷體"/>
              </a:defRPr>
            </a:lvl5pPr>
            <a:lvl6pPr marL="3429000" indent="0">
              <a:buNone/>
              <a:defRPr sz="1350">
                <a:latin typeface="標楷體"/>
                <a:ea typeface="標楷體"/>
                <a:cs typeface="標楷體"/>
              </a:defRPr>
            </a:lvl6pPr>
            <a:lvl7pPr marL="4114800" indent="0">
              <a:buNone/>
              <a:defRPr sz="1350">
                <a:latin typeface="標楷體"/>
                <a:ea typeface="標楷體"/>
                <a:cs typeface="標楷體"/>
              </a:defRPr>
            </a:lvl7pPr>
            <a:lvl8pPr marL="4800600" indent="0">
              <a:buNone/>
              <a:defRPr sz="1350">
                <a:latin typeface="標楷體"/>
                <a:ea typeface="標楷體"/>
                <a:cs typeface="標楷體"/>
              </a:defRPr>
            </a:lvl8pPr>
            <a:lvl9pPr marL="5486400" indent="0">
              <a:buNone/>
              <a:defRPr sz="1350">
                <a:latin typeface="標楷體"/>
                <a:ea typeface="標楷體"/>
                <a:cs typeface="標楷體"/>
              </a:defRPr>
            </a:lvl9pPr>
          </a:lstStyle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57178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685800"/>
            <a:ext cx="5897880" cy="2400300"/>
          </a:xfrm>
        </p:spPr>
        <p:txBody>
          <a:bodyPr anchor="b">
            <a:normAutofit/>
          </a:bodyPr>
          <a:lstStyle>
            <a:lvl1pPr>
              <a:defRPr sz="4800" b="0">
                <a:latin typeface="標楷體"/>
                <a:ea typeface="標楷體"/>
                <a:cs typeface="標楷體"/>
              </a:defRPr>
            </a:lvl1pPr>
          </a:lstStyle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0" y="1485900"/>
            <a:ext cx="9258300" cy="7315200"/>
          </a:xfrm>
        </p:spPr>
        <p:txBody>
          <a:bodyPr/>
          <a:lstStyle>
            <a:lvl1pPr marL="0" indent="0">
              <a:buNone/>
              <a:defRPr sz="4800">
                <a:latin typeface="標楷體"/>
                <a:ea typeface="標楷體"/>
                <a:cs typeface="標楷體"/>
              </a:defRPr>
            </a:lvl1pPr>
            <a:lvl2pPr marL="685800" indent="0">
              <a:buNone/>
              <a:defRPr sz="4200">
                <a:latin typeface="標楷體"/>
                <a:ea typeface="標楷體"/>
                <a:cs typeface="標楷體"/>
              </a:defRPr>
            </a:lvl2pPr>
            <a:lvl3pPr marL="1371600" indent="0">
              <a:buNone/>
              <a:defRPr sz="3600">
                <a:latin typeface="標楷體"/>
                <a:ea typeface="標楷體"/>
                <a:cs typeface="標楷體"/>
              </a:defRPr>
            </a:lvl3pPr>
            <a:lvl4pPr marL="2057400" indent="0">
              <a:buNone/>
              <a:defRPr sz="3000">
                <a:latin typeface="標楷體"/>
                <a:ea typeface="標楷體"/>
                <a:cs typeface="標楷體"/>
              </a:defRPr>
            </a:lvl4pPr>
            <a:lvl5pPr marL="2743200" indent="0">
              <a:buNone/>
              <a:defRPr sz="3000">
                <a:latin typeface="標楷體"/>
                <a:ea typeface="標楷體"/>
                <a:cs typeface="標楷體"/>
              </a:defRPr>
            </a:lvl5pPr>
            <a:lvl6pPr marL="3429000" indent="0">
              <a:buNone/>
              <a:defRPr sz="3000">
                <a:latin typeface="標楷體"/>
                <a:ea typeface="標楷體"/>
                <a:cs typeface="標楷體"/>
              </a:defRPr>
            </a:lvl6pPr>
            <a:lvl7pPr marL="4114800" indent="0">
              <a:buNone/>
              <a:defRPr sz="3000">
                <a:latin typeface="標楷體"/>
                <a:ea typeface="標楷體"/>
                <a:cs typeface="標楷體"/>
              </a:defRPr>
            </a:lvl7pPr>
            <a:lvl8pPr marL="4800600" indent="0">
              <a:buNone/>
              <a:defRPr sz="3000">
                <a:latin typeface="標楷體"/>
                <a:ea typeface="標楷體"/>
                <a:cs typeface="標楷體"/>
              </a:defRPr>
            </a:lvl8pPr>
            <a:lvl9pPr marL="5486400" indent="0">
              <a:buNone/>
              <a:defRPr sz="3000">
                <a:latin typeface="標楷體"/>
                <a:ea typeface="標楷體"/>
                <a:cs typeface="標楷體"/>
              </a:defRPr>
            </a:lvl9pPr>
          </a:lstStyle>
          <a:p>
            <a:r>
              <a:rPr lang="zh-TW" altLang="en-US">
                <a:latin typeface="標楷體"/>
                <a:ea typeface="標楷體"/>
                <a:cs typeface="標楷體"/>
              </a:rPr>
              <a:t>按一下圖示以新增圖片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1872" y="3086100"/>
            <a:ext cx="5897880" cy="5715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400">
                <a:latin typeface="標楷體"/>
                <a:ea typeface="標楷體"/>
                <a:cs typeface="標楷體"/>
              </a:defRPr>
            </a:lvl1pPr>
            <a:lvl2pPr marL="685800" indent="0">
              <a:buNone/>
              <a:defRPr sz="1800">
                <a:latin typeface="標楷體"/>
                <a:ea typeface="標楷體"/>
                <a:cs typeface="標楷體"/>
              </a:defRPr>
            </a:lvl2pPr>
            <a:lvl3pPr marL="1371600" indent="0">
              <a:buNone/>
              <a:defRPr sz="1500">
                <a:latin typeface="標楷體"/>
                <a:ea typeface="標楷體"/>
                <a:cs typeface="標楷體"/>
              </a:defRPr>
            </a:lvl3pPr>
            <a:lvl4pPr marL="2057400" indent="0">
              <a:buNone/>
              <a:defRPr sz="1350">
                <a:latin typeface="標楷體"/>
                <a:ea typeface="標楷體"/>
                <a:cs typeface="標楷體"/>
              </a:defRPr>
            </a:lvl4pPr>
            <a:lvl5pPr marL="2743200" indent="0">
              <a:buNone/>
              <a:defRPr sz="1350">
                <a:latin typeface="標楷體"/>
                <a:ea typeface="標楷體"/>
                <a:cs typeface="標楷體"/>
              </a:defRPr>
            </a:lvl5pPr>
            <a:lvl6pPr marL="3429000" indent="0">
              <a:buNone/>
              <a:defRPr sz="1350">
                <a:latin typeface="標楷體"/>
                <a:ea typeface="標楷體"/>
                <a:cs typeface="標楷體"/>
              </a:defRPr>
            </a:lvl6pPr>
            <a:lvl7pPr marL="4114800" indent="0">
              <a:buNone/>
              <a:defRPr sz="1350">
                <a:latin typeface="標楷體"/>
                <a:ea typeface="標楷體"/>
                <a:cs typeface="標楷體"/>
              </a:defRPr>
            </a:lvl7pPr>
            <a:lvl8pPr marL="4800600" indent="0">
              <a:buNone/>
              <a:defRPr sz="1350">
                <a:latin typeface="標楷體"/>
                <a:ea typeface="標楷體"/>
                <a:cs typeface="標楷體"/>
              </a:defRPr>
            </a:lvl8pPr>
            <a:lvl9pPr marL="5486400" indent="0">
              <a:buNone/>
              <a:defRPr sz="1350">
                <a:latin typeface="標楷體"/>
                <a:ea typeface="標楷體"/>
                <a:cs typeface="標楷體"/>
              </a:defRPr>
            </a:lvl9pPr>
          </a:lstStyle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946407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08568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0543"/>
            <a:ext cx="3943350" cy="8717757"/>
          </a:xfrm>
        </p:spPr>
        <p:txBody>
          <a:bodyPr vert="eaVert"/>
          <a:lstStyle/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0544"/>
            <a:ext cx="11601450" cy="8717756"/>
          </a:xfrm>
        </p:spPr>
        <p:txBody>
          <a:bodyPr vert="eaVert"/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307408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2FDBC4-D9D7-484F-9B92-921709670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>
                <a:latin typeface="標楷體"/>
                <a:ea typeface="標楷體"/>
                <a:cs typeface="標楷體"/>
              </a:defRPr>
            </a:lvl1pPr>
          </a:lstStyle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995243-83A6-4045-B60E-B5DB9B4A4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>
                <a:latin typeface="標楷體"/>
                <a:ea typeface="標楷體"/>
                <a:cs typeface="標楷體"/>
              </a:defRPr>
            </a:lvl1pPr>
            <a:lvl2pPr marL="685800" indent="0" algn="ctr">
              <a:buNone/>
              <a:defRPr sz="3000">
                <a:latin typeface="標楷體"/>
                <a:ea typeface="標楷體"/>
                <a:cs typeface="標楷體"/>
              </a:defRPr>
            </a:lvl2pPr>
            <a:lvl3pPr marL="1371600" indent="0" algn="ctr">
              <a:buNone/>
              <a:defRPr sz="2700">
                <a:latin typeface="標楷體"/>
                <a:ea typeface="標楷體"/>
                <a:cs typeface="標楷體"/>
              </a:defRPr>
            </a:lvl3pPr>
            <a:lvl4pPr marL="2057400" indent="0" algn="ctr">
              <a:buNone/>
              <a:defRPr sz="2400">
                <a:latin typeface="標楷體"/>
                <a:ea typeface="標楷體"/>
                <a:cs typeface="標楷體"/>
              </a:defRPr>
            </a:lvl4pPr>
            <a:lvl5pPr marL="2743200" indent="0" algn="ctr">
              <a:buNone/>
              <a:defRPr sz="2400">
                <a:latin typeface="標楷體"/>
                <a:ea typeface="標楷體"/>
                <a:cs typeface="標楷體"/>
              </a:defRPr>
            </a:lvl5pPr>
            <a:lvl6pPr marL="3429000" indent="0" algn="ctr">
              <a:buNone/>
              <a:defRPr sz="2400">
                <a:latin typeface="標楷體"/>
                <a:ea typeface="標楷體"/>
                <a:cs typeface="標楷體"/>
              </a:defRPr>
            </a:lvl6pPr>
            <a:lvl7pPr marL="4114800" indent="0" algn="ctr">
              <a:buNone/>
              <a:defRPr sz="2400">
                <a:latin typeface="標楷體"/>
                <a:ea typeface="標楷體"/>
                <a:cs typeface="標楷體"/>
              </a:defRPr>
            </a:lvl7pPr>
            <a:lvl8pPr marL="4800600" indent="0" algn="ctr">
              <a:buNone/>
              <a:defRPr sz="2400">
                <a:latin typeface="標楷體"/>
                <a:ea typeface="標楷體"/>
                <a:cs typeface="標楷體"/>
              </a:defRPr>
            </a:lvl8pPr>
            <a:lvl9pPr marL="5486400" indent="0" algn="ctr">
              <a:buNone/>
              <a:defRPr sz="2400">
                <a:latin typeface="標楷體"/>
                <a:ea typeface="標楷體"/>
                <a:cs typeface="標楷體"/>
              </a:defRPr>
            </a:lvl9pPr>
          </a:lstStyle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FAA088-63CD-46CB-9555-8E4BFDA11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7C8255-259D-457C-B341-D81740B92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E08A5F-AE4F-4C0E-B1D1-BF9C1FA8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903558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88C2A7-FBF8-448A-B4E3-432F9A922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F6CC1E-CFB0-4C0D-AE50-25D23EFC1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7E2A15-DC34-4510-9BF6-89C65FA32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094DBB-CEEB-4BEB-96ED-14A8C2C5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5DFA0D-1A3E-4899-BDC3-98E29B07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4272779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F4EE57-3977-4376-A0DC-912F5D67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>
                <a:latin typeface="標楷體"/>
                <a:ea typeface="標楷體"/>
                <a:cs typeface="標楷體"/>
              </a:defRPr>
            </a:lvl1pPr>
          </a:lstStyle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1567E31-9CDF-428A-8DA2-06CB56761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46F73A-21E4-4C65-9785-CEBB9FD2E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424EE5-1421-4904-99C1-21D1D118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A374D5-9821-48AB-BE20-FA1786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618480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272CD8-7457-488A-88A2-6E127824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7581F7-653C-4CBF-975A-06F5DD921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169D703-D8FE-4B53-AB33-996D43A57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04D35F5-5B21-44A5-AA22-330ED2655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4F2D227-660C-42AF-9F90-DE247DA9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62A8165-BAEA-4BC3-815C-DE1254BC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4423240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2FC711-4985-42C9-ADC1-0DD8FEFC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EA3E8C-8622-4112-B8DC-BF3220625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>
                <a:latin typeface="標楷體"/>
                <a:ea typeface="標楷體"/>
                <a:cs typeface="標楷體"/>
              </a:defRPr>
            </a:lvl1pPr>
            <a:lvl2pPr marL="685800" indent="0">
              <a:buNone/>
              <a:defRPr sz="3000" b="1">
                <a:latin typeface="標楷體"/>
                <a:ea typeface="標楷體"/>
                <a:cs typeface="標楷體"/>
              </a:defRPr>
            </a:lvl2pPr>
            <a:lvl3pPr marL="1371600" indent="0">
              <a:buNone/>
              <a:defRPr sz="2700" b="1">
                <a:latin typeface="標楷體"/>
                <a:ea typeface="標楷體"/>
                <a:cs typeface="標楷體"/>
              </a:defRPr>
            </a:lvl3pPr>
            <a:lvl4pPr marL="2057400" indent="0">
              <a:buNone/>
              <a:defRPr sz="2400" b="1">
                <a:latin typeface="標楷體"/>
                <a:ea typeface="標楷體"/>
                <a:cs typeface="標楷體"/>
              </a:defRPr>
            </a:lvl4pPr>
            <a:lvl5pPr marL="2743200" indent="0">
              <a:buNone/>
              <a:defRPr sz="2400" b="1">
                <a:latin typeface="標楷體"/>
                <a:ea typeface="標楷體"/>
                <a:cs typeface="標楷體"/>
              </a:defRPr>
            </a:lvl5pPr>
            <a:lvl6pPr marL="3429000" indent="0">
              <a:buNone/>
              <a:defRPr sz="2400" b="1">
                <a:latin typeface="標楷體"/>
                <a:ea typeface="標楷體"/>
                <a:cs typeface="標楷體"/>
              </a:defRPr>
            </a:lvl6pPr>
            <a:lvl7pPr marL="4114800" indent="0">
              <a:buNone/>
              <a:defRPr sz="2400" b="1">
                <a:latin typeface="標楷體"/>
                <a:ea typeface="標楷體"/>
                <a:cs typeface="標楷體"/>
              </a:defRPr>
            </a:lvl7pPr>
            <a:lvl8pPr marL="4800600" indent="0">
              <a:buNone/>
              <a:defRPr sz="2400" b="1">
                <a:latin typeface="標楷體"/>
                <a:ea typeface="標楷體"/>
                <a:cs typeface="標楷體"/>
              </a:defRPr>
            </a:lvl8pPr>
            <a:lvl9pPr marL="5486400" indent="0">
              <a:buNone/>
              <a:defRPr sz="2400" b="1">
                <a:latin typeface="標楷體"/>
                <a:ea typeface="標楷體"/>
                <a:cs typeface="標楷體"/>
              </a:defRPr>
            </a:lvl9pPr>
          </a:lstStyle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D30237A-3238-46EB-89A0-011951257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65BE04-42AC-486D-A0B6-22990435E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>
                <a:latin typeface="標楷體"/>
                <a:ea typeface="標楷體"/>
                <a:cs typeface="標楷體"/>
              </a:defRPr>
            </a:lvl1pPr>
            <a:lvl2pPr marL="685800" indent="0">
              <a:buNone/>
              <a:defRPr sz="3000" b="1">
                <a:latin typeface="標楷體"/>
                <a:ea typeface="標楷體"/>
                <a:cs typeface="標楷體"/>
              </a:defRPr>
            </a:lvl2pPr>
            <a:lvl3pPr marL="1371600" indent="0">
              <a:buNone/>
              <a:defRPr sz="2700" b="1">
                <a:latin typeface="標楷體"/>
                <a:ea typeface="標楷體"/>
                <a:cs typeface="標楷體"/>
              </a:defRPr>
            </a:lvl3pPr>
            <a:lvl4pPr marL="2057400" indent="0">
              <a:buNone/>
              <a:defRPr sz="2400" b="1">
                <a:latin typeface="標楷體"/>
                <a:ea typeface="標楷體"/>
                <a:cs typeface="標楷體"/>
              </a:defRPr>
            </a:lvl4pPr>
            <a:lvl5pPr marL="2743200" indent="0">
              <a:buNone/>
              <a:defRPr sz="2400" b="1">
                <a:latin typeface="標楷體"/>
                <a:ea typeface="標楷體"/>
                <a:cs typeface="標楷體"/>
              </a:defRPr>
            </a:lvl5pPr>
            <a:lvl6pPr marL="3429000" indent="0">
              <a:buNone/>
              <a:defRPr sz="2400" b="1">
                <a:latin typeface="標楷體"/>
                <a:ea typeface="標楷體"/>
                <a:cs typeface="標楷體"/>
              </a:defRPr>
            </a:lvl6pPr>
            <a:lvl7pPr marL="4114800" indent="0">
              <a:buNone/>
              <a:defRPr sz="2400" b="1">
                <a:latin typeface="標楷體"/>
                <a:ea typeface="標楷體"/>
                <a:cs typeface="標楷體"/>
              </a:defRPr>
            </a:lvl7pPr>
            <a:lvl8pPr marL="4800600" indent="0">
              <a:buNone/>
              <a:defRPr sz="2400" b="1">
                <a:latin typeface="標楷體"/>
                <a:ea typeface="標楷體"/>
                <a:cs typeface="標楷體"/>
              </a:defRPr>
            </a:lvl8pPr>
            <a:lvl9pPr marL="5486400" indent="0">
              <a:buNone/>
              <a:defRPr sz="2400" b="1">
                <a:latin typeface="標楷體"/>
                <a:ea typeface="標楷體"/>
                <a:cs typeface="標楷體"/>
              </a:defRPr>
            </a:lvl9pPr>
          </a:lstStyle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6D291FC-A222-4736-AE25-1EA092B93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5D97A55-B35F-4F30-BBFB-E6D2F206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DCE8188-FF0D-4A68-A18F-C75D7AEB3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C757FF2-0196-47E8-ADAA-89B29C39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818292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1DDA20-103A-45D3-B502-23EFA1C22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90C5B7-1BAA-40D5-AC14-8901F0EFB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7933CEB-3B96-4036-9998-11F6B2F6B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C194D43-C904-471A-B5FD-DB4169E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600182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D2A6173-46F4-463A-B405-EB92D287F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C7725FE-9CE3-4051-8EC8-B3C0E8EF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FA8E28-1D1E-4320-A8EA-A94F9CA37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4042838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AE38CA-C95F-4B96-9CE6-AD58ED89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>
                <a:latin typeface="標楷體"/>
                <a:ea typeface="標楷體"/>
                <a:cs typeface="標楷體"/>
              </a:defRPr>
            </a:lvl1pPr>
          </a:lstStyle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68F9CE-3E68-4CE5-88E0-18618F8B3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>
                <a:latin typeface="標楷體"/>
                <a:ea typeface="標楷體"/>
                <a:cs typeface="標楷體"/>
              </a:defRPr>
            </a:lvl1pPr>
            <a:lvl2pPr>
              <a:defRPr sz="4200">
                <a:latin typeface="標楷體"/>
                <a:ea typeface="標楷體"/>
                <a:cs typeface="標楷體"/>
              </a:defRPr>
            </a:lvl2pPr>
            <a:lvl3pPr>
              <a:defRPr sz="3600">
                <a:latin typeface="標楷體"/>
                <a:ea typeface="標楷體"/>
                <a:cs typeface="標楷體"/>
              </a:defRPr>
            </a:lvl3pPr>
            <a:lvl4pPr>
              <a:defRPr sz="3000">
                <a:latin typeface="標楷體"/>
                <a:ea typeface="標楷體"/>
                <a:cs typeface="標楷體"/>
              </a:defRPr>
            </a:lvl4pPr>
            <a:lvl5pPr>
              <a:defRPr sz="3000">
                <a:latin typeface="標楷體"/>
                <a:ea typeface="標楷體"/>
                <a:cs typeface="標楷體"/>
              </a:defRPr>
            </a:lvl5pPr>
            <a:lvl6pPr>
              <a:defRPr sz="3000">
                <a:latin typeface="標楷體"/>
                <a:ea typeface="標楷體"/>
                <a:cs typeface="標楷體"/>
              </a:defRPr>
            </a:lvl6pPr>
            <a:lvl7pPr>
              <a:defRPr sz="3000">
                <a:latin typeface="標楷體"/>
                <a:ea typeface="標楷體"/>
                <a:cs typeface="標楷體"/>
              </a:defRPr>
            </a:lvl7pPr>
            <a:lvl8pPr>
              <a:defRPr sz="3000">
                <a:latin typeface="標楷體"/>
                <a:ea typeface="標楷體"/>
                <a:cs typeface="標楷體"/>
              </a:defRPr>
            </a:lvl8pPr>
            <a:lvl9pPr>
              <a:defRPr sz="3000">
                <a:latin typeface="標楷體"/>
                <a:ea typeface="標楷體"/>
                <a:cs typeface="標楷體"/>
              </a:defRPr>
            </a:lvl9pPr>
          </a:lstStyle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C49333D-D89D-4AC6-816A-674FCB246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>
                <a:latin typeface="標楷體"/>
                <a:ea typeface="標楷體"/>
                <a:cs typeface="標楷體"/>
              </a:defRPr>
            </a:lvl1pPr>
            <a:lvl2pPr marL="685800" indent="0">
              <a:buNone/>
              <a:defRPr sz="2100">
                <a:latin typeface="標楷體"/>
                <a:ea typeface="標楷體"/>
                <a:cs typeface="標楷體"/>
              </a:defRPr>
            </a:lvl2pPr>
            <a:lvl3pPr marL="1371600" indent="0">
              <a:buNone/>
              <a:defRPr sz="1800">
                <a:latin typeface="標楷體"/>
                <a:ea typeface="標楷體"/>
                <a:cs typeface="標楷體"/>
              </a:defRPr>
            </a:lvl3pPr>
            <a:lvl4pPr marL="2057400" indent="0">
              <a:buNone/>
              <a:defRPr sz="1500">
                <a:latin typeface="標楷體"/>
                <a:ea typeface="標楷體"/>
                <a:cs typeface="標楷體"/>
              </a:defRPr>
            </a:lvl4pPr>
            <a:lvl5pPr marL="2743200" indent="0">
              <a:buNone/>
              <a:defRPr sz="1500">
                <a:latin typeface="標楷體"/>
                <a:ea typeface="標楷體"/>
                <a:cs typeface="標楷體"/>
              </a:defRPr>
            </a:lvl5pPr>
            <a:lvl6pPr marL="3429000" indent="0">
              <a:buNone/>
              <a:defRPr sz="1500">
                <a:latin typeface="標楷體"/>
                <a:ea typeface="標楷體"/>
                <a:cs typeface="標楷體"/>
              </a:defRPr>
            </a:lvl6pPr>
            <a:lvl7pPr marL="4114800" indent="0">
              <a:buNone/>
              <a:defRPr sz="1500">
                <a:latin typeface="標楷體"/>
                <a:ea typeface="標楷體"/>
                <a:cs typeface="標楷體"/>
              </a:defRPr>
            </a:lvl7pPr>
            <a:lvl8pPr marL="4800600" indent="0">
              <a:buNone/>
              <a:defRPr sz="1500">
                <a:latin typeface="標楷體"/>
                <a:ea typeface="標楷體"/>
                <a:cs typeface="標楷體"/>
              </a:defRPr>
            </a:lvl8pPr>
            <a:lvl9pPr marL="5486400" indent="0">
              <a:buNone/>
              <a:defRPr sz="1500">
                <a:latin typeface="標楷體"/>
                <a:ea typeface="標楷體"/>
                <a:cs typeface="標楷體"/>
              </a:defRPr>
            </a:lvl9pPr>
          </a:lstStyle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5A7FCD-8AC9-4279-85AD-0F73CBC1F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EC354E-61CB-4B60-8FBA-6482E8391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B93B05-1665-4768-B915-C2985CC7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690238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6DE4C5-3E5D-4667-8BF2-2E5480BAE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>
                <a:latin typeface="標楷體"/>
                <a:ea typeface="標楷體"/>
                <a:cs typeface="標楷體"/>
              </a:defRPr>
            </a:lvl1pPr>
          </a:lstStyle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CFB6B7E-2EC6-461A-A683-F26E7D44EB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>
                <a:latin typeface="標楷體"/>
                <a:ea typeface="標楷體"/>
                <a:cs typeface="標楷體"/>
              </a:defRPr>
            </a:lvl1pPr>
            <a:lvl2pPr marL="685800" indent="0">
              <a:buNone/>
              <a:defRPr sz="4200">
                <a:latin typeface="標楷體"/>
                <a:ea typeface="標楷體"/>
                <a:cs typeface="標楷體"/>
              </a:defRPr>
            </a:lvl2pPr>
            <a:lvl3pPr marL="1371600" indent="0">
              <a:buNone/>
              <a:defRPr sz="3600">
                <a:latin typeface="標楷體"/>
                <a:ea typeface="標楷體"/>
                <a:cs typeface="標楷體"/>
              </a:defRPr>
            </a:lvl3pPr>
            <a:lvl4pPr marL="2057400" indent="0">
              <a:buNone/>
              <a:defRPr sz="3000">
                <a:latin typeface="標楷體"/>
                <a:ea typeface="標楷體"/>
                <a:cs typeface="標楷體"/>
              </a:defRPr>
            </a:lvl4pPr>
            <a:lvl5pPr marL="2743200" indent="0">
              <a:buNone/>
              <a:defRPr sz="3000">
                <a:latin typeface="標楷體"/>
                <a:ea typeface="標楷體"/>
                <a:cs typeface="標楷體"/>
              </a:defRPr>
            </a:lvl5pPr>
            <a:lvl6pPr marL="3429000" indent="0">
              <a:buNone/>
              <a:defRPr sz="3000">
                <a:latin typeface="標楷體"/>
                <a:ea typeface="標楷體"/>
                <a:cs typeface="標楷體"/>
              </a:defRPr>
            </a:lvl6pPr>
            <a:lvl7pPr marL="4114800" indent="0">
              <a:buNone/>
              <a:defRPr sz="3000">
                <a:latin typeface="標楷體"/>
                <a:ea typeface="標楷體"/>
                <a:cs typeface="標楷體"/>
              </a:defRPr>
            </a:lvl7pPr>
            <a:lvl8pPr marL="4800600" indent="0">
              <a:buNone/>
              <a:defRPr sz="3000">
                <a:latin typeface="標楷體"/>
                <a:ea typeface="標楷體"/>
                <a:cs typeface="標楷體"/>
              </a:defRPr>
            </a:lvl8pPr>
            <a:lvl9pPr marL="5486400" indent="0">
              <a:buNone/>
              <a:defRPr sz="3000">
                <a:latin typeface="標楷體"/>
                <a:ea typeface="標楷體"/>
                <a:cs typeface="標楷體"/>
              </a:defRPr>
            </a:lvl9pPr>
          </a:lstStyle>
          <a:p>
            <a:endParaRPr lang="zh-TW" alt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6151B39-993A-4584-AE84-5128C356E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>
                <a:latin typeface="標楷體"/>
                <a:ea typeface="標楷體"/>
                <a:cs typeface="標楷體"/>
              </a:defRPr>
            </a:lvl1pPr>
            <a:lvl2pPr marL="685800" indent="0">
              <a:buNone/>
              <a:defRPr sz="2100">
                <a:latin typeface="標楷體"/>
                <a:ea typeface="標楷體"/>
                <a:cs typeface="標楷體"/>
              </a:defRPr>
            </a:lvl2pPr>
            <a:lvl3pPr marL="1371600" indent="0">
              <a:buNone/>
              <a:defRPr sz="1800">
                <a:latin typeface="標楷體"/>
                <a:ea typeface="標楷體"/>
                <a:cs typeface="標楷體"/>
              </a:defRPr>
            </a:lvl3pPr>
            <a:lvl4pPr marL="2057400" indent="0">
              <a:buNone/>
              <a:defRPr sz="1500">
                <a:latin typeface="標楷體"/>
                <a:ea typeface="標楷體"/>
                <a:cs typeface="標楷體"/>
              </a:defRPr>
            </a:lvl4pPr>
            <a:lvl5pPr marL="2743200" indent="0">
              <a:buNone/>
              <a:defRPr sz="1500">
                <a:latin typeface="標楷體"/>
                <a:ea typeface="標楷體"/>
                <a:cs typeface="標楷體"/>
              </a:defRPr>
            </a:lvl5pPr>
            <a:lvl6pPr marL="3429000" indent="0">
              <a:buNone/>
              <a:defRPr sz="1500">
                <a:latin typeface="標楷體"/>
                <a:ea typeface="標楷體"/>
                <a:cs typeface="標楷體"/>
              </a:defRPr>
            </a:lvl6pPr>
            <a:lvl7pPr marL="4114800" indent="0">
              <a:buNone/>
              <a:defRPr sz="1500">
                <a:latin typeface="標楷體"/>
                <a:ea typeface="標楷體"/>
                <a:cs typeface="標楷體"/>
              </a:defRPr>
            </a:lvl7pPr>
            <a:lvl8pPr marL="4800600" indent="0">
              <a:buNone/>
              <a:defRPr sz="1500">
                <a:latin typeface="標楷體"/>
                <a:ea typeface="標楷體"/>
                <a:cs typeface="標楷體"/>
              </a:defRPr>
            </a:lvl8pPr>
            <a:lvl9pPr marL="5486400" indent="0">
              <a:buNone/>
              <a:defRPr sz="1500">
                <a:latin typeface="標楷體"/>
                <a:ea typeface="標楷體"/>
                <a:cs typeface="標楷體"/>
              </a:defRPr>
            </a:lvl9pPr>
          </a:lstStyle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00BEB63-A15E-4311-806F-923287658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CE5252-7488-448C-A1BA-9BF82280E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AA5FDBE-50C6-419A-92E4-1026E1F7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2238224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978EA4-5D75-445A-B926-9417245BE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07A821A-D5BB-4568-9244-1FAD4A174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7D7571-48E7-40D1-87F1-DEA3F3319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461B33-8A32-4A4F-9816-C9D926E7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003F33-F1D8-4295-B58C-858FF6CE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1525677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5E0EC58-B6D3-497E-9DC7-3353EC0D2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04F1BD0-3F9C-4775-AF48-763488BB2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915A54-D7EA-4E74-82DB-5C4B06493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7A30ED-05B4-4346-8B82-F0D24294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C1D4AA-66DA-40F8-BA25-E5D6039B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4616028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7691" y="548640"/>
            <a:ext cx="15773400" cy="1988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7691" y="2743201"/>
            <a:ext cx="15773400" cy="6527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  <a:endParaRPr lang="en-US" dirty="0">
              <a:latin typeface="標楷體"/>
              <a:ea typeface="標楷體"/>
              <a:cs typeface="標楷體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50">
                <a:solidFill>
                  <a:schemeClr val="tx1">
                    <a:lumMod val="65000"/>
                    <a:lumOff val="35000"/>
                  </a:schemeClr>
                </a:solidFill>
                <a:latin typeface="標楷體"/>
                <a:ea typeface="標楷體"/>
                <a:cs typeface="標楷體"/>
              </a:defRPr>
            </a:lvl1pPr>
          </a:lstStyle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50">
                <a:solidFill>
                  <a:schemeClr val="tx1">
                    <a:lumMod val="65000"/>
                    <a:lumOff val="35000"/>
                  </a:schemeClr>
                </a:solidFill>
                <a:latin typeface="標楷體"/>
                <a:ea typeface="標楷體"/>
                <a:cs typeface="標楷體"/>
              </a:defRPr>
            </a:lvl1pPr>
          </a:lstStyle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26291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1pPr>
          </a:lstStyle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76908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標楷體"/>
          <a:ea typeface="標楷體"/>
          <a:cs typeface="標楷體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標楷體" pitchFamily="18" charset="2"/>
        <a:buChar char=""/>
        <a:defRPr sz="4200" kern="1200">
          <a:solidFill>
            <a:schemeClr val="tx1"/>
          </a:solidFill>
          <a:latin typeface="標楷體"/>
          <a:ea typeface="標楷體"/>
          <a:cs typeface="標楷體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標楷體" pitchFamily="18" charset="2"/>
        <a:buChar char=""/>
        <a:defRPr sz="3600" kern="1200">
          <a:solidFill>
            <a:schemeClr val="tx1"/>
          </a:solidFill>
          <a:latin typeface="標楷體"/>
          <a:ea typeface="標楷體"/>
          <a:cs typeface="標楷體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標楷體" pitchFamily="18" charset="2"/>
        <a:buChar char=""/>
        <a:defRPr sz="3000" kern="1200">
          <a:solidFill>
            <a:schemeClr val="tx1"/>
          </a:solidFill>
          <a:latin typeface="標楷體"/>
          <a:ea typeface="標楷體"/>
          <a:cs typeface="標楷體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標楷體" pitchFamily="18" charset="2"/>
        <a:buChar char=""/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標楷體" pitchFamily="18" charset="2"/>
        <a:buChar char=""/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5pPr>
      <a:lvl6pPr marL="3771900" indent="-342900" algn="l" defTabSz="1371600" rtl="0" eaLnBrk="1" latinLnBrk="0" hangingPunct="1">
        <a:spcBef>
          <a:spcPct val="20000"/>
        </a:spcBef>
        <a:buFont typeface="標楷體" pitchFamily="18" charset="2"/>
        <a:buChar char=""/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6pPr>
      <a:lvl7pPr marL="4457700" indent="-342900" algn="l" defTabSz="1371600" rtl="0" eaLnBrk="1" latinLnBrk="0" hangingPunct="1">
        <a:spcBef>
          <a:spcPct val="20000"/>
        </a:spcBef>
        <a:buFont typeface="標楷體" pitchFamily="18" charset="2"/>
        <a:buChar char=""/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7pPr>
      <a:lvl8pPr marL="5143500" indent="-342900" algn="l" defTabSz="1371600" rtl="0" eaLnBrk="1" latinLnBrk="0" hangingPunct="1">
        <a:spcBef>
          <a:spcPct val="20000"/>
        </a:spcBef>
        <a:buFont typeface="標楷體" pitchFamily="18" charset="2"/>
        <a:buChar char=""/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8pPr>
      <a:lvl9pPr marL="5829300" indent="-342900" algn="l" defTabSz="1371600" rtl="0" eaLnBrk="1" latinLnBrk="0" hangingPunct="1">
        <a:spcBef>
          <a:spcPct val="20000"/>
        </a:spcBef>
        <a:buFont typeface="標楷體" pitchFamily="18" charset="2"/>
        <a:buChar char=""/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9pPr>
    </p:bodyStyle>
    <p:otherStyle>
      <a:defPPr>
        <a:defRPr lang="en-US">
          <a:latin typeface="標楷體"/>
          <a:ea typeface="標楷體"/>
          <a:cs typeface="標楷體"/>
        </a:defRPr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26ED55B-4ADB-4721-B89A-40A37B952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>
                <a:latin typeface="標楷體"/>
                <a:ea typeface="標楷體"/>
                <a:cs typeface="標楷體"/>
              </a:rP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D071DAE-B950-426C-930F-437FACC2D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>
                <a:latin typeface="標楷體"/>
                <a:ea typeface="標楷體"/>
                <a:cs typeface="標楷體"/>
              </a:rPr>
              <a:t>按一下以編輯母片文字樣式</a:t>
            </a:r>
          </a:p>
          <a:p>
            <a:pPr lvl="1"/>
            <a:r>
              <a:rPr lang="zh-TW" altLang="en-US">
                <a:latin typeface="標楷體"/>
                <a:ea typeface="標楷體"/>
                <a:cs typeface="標楷體"/>
              </a:rPr>
              <a:t>第二層</a:t>
            </a:r>
          </a:p>
          <a:p>
            <a:pPr lvl="2"/>
            <a:r>
              <a:rPr lang="zh-TW" altLang="en-US">
                <a:latin typeface="標楷體"/>
                <a:ea typeface="標楷體"/>
                <a:cs typeface="標楷體"/>
              </a:rPr>
              <a:t>第三層</a:t>
            </a:r>
          </a:p>
          <a:p>
            <a:pPr lvl="3"/>
            <a:r>
              <a:rPr lang="zh-TW" altLang="en-US">
                <a:latin typeface="標楷體"/>
                <a:ea typeface="標楷體"/>
                <a:cs typeface="標楷體"/>
              </a:rPr>
              <a:t>第四層</a:t>
            </a:r>
          </a:p>
          <a:p>
            <a:pPr lvl="4"/>
            <a:r>
              <a:rPr lang="zh-TW" altLang="en-US">
                <a:latin typeface="標楷體"/>
                <a:ea typeface="標楷體"/>
                <a:cs typeface="標楷體"/>
              </a:rP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F98ADD-6C5C-46D8-8AF6-37B8F2FA8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1pPr>
          </a:lstStyle>
          <a:p>
            <a:fld id="{1D8BD707-D9CF-40AE-B4C6-C98DA3205C09}" type="datetimeFigureOut">
              <a:rPr lang="en-US" smtClean="0">
                <a:latin typeface="標楷體"/>
                <a:ea typeface="標楷體"/>
                <a:cs typeface="標楷體"/>
              </a:rPr>
              <a:pPr/>
              <a:t>10/10/2026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C65AB8-541E-487D-89BC-E9AD303AF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1pPr>
          </a:lstStyle>
          <a:p>
            <a:endParaRPr lang="en-US">
              <a:latin typeface="標楷體"/>
              <a:ea typeface="標楷體"/>
              <a:cs typeface="標楷體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4C46CD-260B-4CF2-8F10-002C8D565F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latin typeface="標楷體"/>
                <a:ea typeface="標楷體"/>
                <a:cs typeface="標楷體"/>
              </a:defRPr>
            </a:lvl1pPr>
          </a:lstStyle>
          <a:p>
            <a:fld id="{B6F15528-21DE-4FAA-801E-634DDDAF4B2B}" type="slidenum">
              <a:rPr lang="en-US" smtClean="0">
                <a:latin typeface="標楷體"/>
                <a:ea typeface="標楷體"/>
                <a:cs typeface="標楷體"/>
              </a:rPr>
              <a:pPr/>
              <a:t>‹#›</a:t>
            </a:fld>
            <a:endParaRPr lang="en-US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920393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標楷體"/>
          <a:ea typeface="標楷體"/>
          <a:cs typeface="標楷體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標楷體" panose="020B0604020202020204" pitchFamily="34" charset="0"/>
        <a:buChar char="•"/>
        <a:defRPr sz="4200" kern="1200">
          <a:solidFill>
            <a:schemeClr val="tx1"/>
          </a:solidFill>
          <a:latin typeface="標楷體"/>
          <a:ea typeface="標楷體"/>
          <a:cs typeface="標楷體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標楷體" panose="020B0604020202020204" pitchFamily="34" charset="0"/>
        <a:buChar char="•"/>
        <a:defRPr sz="3600" kern="1200">
          <a:solidFill>
            <a:schemeClr val="tx1"/>
          </a:solidFill>
          <a:latin typeface="標楷體"/>
          <a:ea typeface="標楷體"/>
          <a:cs typeface="標楷體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標楷體" panose="020B0604020202020204" pitchFamily="34" charset="0"/>
        <a:buChar char="•"/>
        <a:defRPr sz="3000" kern="1200">
          <a:solidFill>
            <a:schemeClr val="tx1"/>
          </a:solidFill>
          <a:latin typeface="標楷體"/>
          <a:ea typeface="標楷體"/>
          <a:cs typeface="標楷體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標楷體" panose="020B0604020202020204" pitchFamily="34" charset="0"/>
        <a:buChar char="•"/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標楷體" panose="020B0604020202020204" pitchFamily="34" charset="0"/>
        <a:buChar char="•"/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標楷體" panose="020B0604020202020204" pitchFamily="34" charset="0"/>
        <a:buChar char="•"/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標楷體" panose="020B0604020202020204" pitchFamily="34" charset="0"/>
        <a:buChar char="•"/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標楷體" panose="020B0604020202020204" pitchFamily="34" charset="0"/>
        <a:buChar char="•"/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標楷體" panose="020B0604020202020204" pitchFamily="34" charset="0"/>
        <a:buChar char="•"/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9pPr>
    </p:bodyStyle>
    <p:otherStyle>
      <a:defPPr>
        <a:defRPr lang="zh-TW">
          <a:latin typeface="標楷體"/>
          <a:ea typeface="標楷體"/>
          <a:cs typeface="標楷體"/>
        </a:defRPr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標楷體"/>
          <a:ea typeface="標楷體"/>
          <a:cs typeface="標楷體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7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22960" y="2834640"/>
            <a:ext cx="10149840" cy="17373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4400" b="1" spc="6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彈坑快修：從影像辨識到快速評估</a:t>
            </a:r>
            <a:endParaRPr lang="en-US" sz="4500" b="1" spc="6" dirty="0">
              <a:solidFill>
                <a:srgbClr val="163048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779240" y="9646920"/>
            <a:ext cx="502920" cy="3200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506780"/>
                </a:solidFill>
                <a:latin typeface="標楷體"/>
                <a:ea typeface="標楷體"/>
                <a:cs typeface="標楷體"/>
              </a:defRPr>
            </a:pPr>
            <a:r>
              <a:rPr lang="en-US" sz="1600" spc="2">
                <a:solidFill>
                  <a:srgbClr val="506780"/>
                </a:solidFill>
                <a:latin typeface="標楷體"/>
                <a:ea typeface="標楷體"/>
                <a:cs typeface="標楷體"/>
                <a:sym typeface="Noto Sans CJK TC"/>
              </a:rPr>
              <a:t>01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521440" y="2606040"/>
            <a:ext cx="5897880" cy="6240780"/>
            <a:chOff x="0" y="0"/>
            <a:chExt cx="7863840" cy="8321040"/>
          </a:xfrm>
        </p:grpSpPr>
        <p:sp>
          <p:nvSpPr>
            <p:cNvPr id="9" name="Freeform 9" descr="image.jpg"/>
            <p:cNvSpPr/>
            <p:nvPr/>
          </p:nvSpPr>
          <p:spPr>
            <a:xfrm>
              <a:off x="0" y="0"/>
              <a:ext cx="7863840" cy="8321040"/>
            </a:xfrm>
            <a:custGeom>
              <a:avLst/>
              <a:gdLst/>
              <a:ahLst/>
              <a:cxnLst/>
              <a:rect l="l" t="t" r="r" b="b"/>
              <a:pathLst>
                <a:path w="7863840" h="8321040">
                  <a:moveTo>
                    <a:pt x="0" y="0"/>
                  </a:moveTo>
                  <a:lnTo>
                    <a:pt x="7863840" y="0"/>
                  </a:lnTo>
                  <a:lnTo>
                    <a:pt x="7863840" y="8321040"/>
                  </a:lnTo>
                  <a:lnTo>
                    <a:pt x="0" y="8321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" r="-17"/>
              </a:stretch>
            </a:blip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14400" y="7132320"/>
            <a:ext cx="10058400" cy="114300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2600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團隊：泥好</a:t>
            </a:r>
            <a:endParaRPr lang="en-US" sz="2700" dirty="0">
              <a:solidFill>
                <a:srgbClr val="163048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600" dirty="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提報人</a:t>
            </a:r>
            <a:r>
              <a:rPr lang="en-US" altLang="zh-TW" sz="2600" dirty="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:</a:t>
            </a:r>
            <a:r>
              <a:rPr lang="en-US" sz="2600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徐專洧</a:t>
            </a:r>
            <a:r>
              <a:rPr lang="zh-TW" altLang="en-US" sz="2600" dirty="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、</a:t>
            </a:r>
            <a:r>
              <a:rPr lang="en-US" sz="2600" dirty="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陳宥翔</a:t>
            </a:r>
            <a:r>
              <a:rPr lang="zh-TW" altLang="en-US" sz="2600" dirty="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、</a:t>
            </a:r>
            <a:r>
              <a:rPr lang="en-US" sz="2600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張瑞洋</a:t>
            </a:r>
            <a:r>
              <a:rPr lang="zh-TW" altLang="en-US" sz="2600" dirty="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、</a:t>
            </a:r>
            <a:r>
              <a:rPr lang="en-US" sz="2600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林書呈</a:t>
            </a:r>
            <a:endParaRPr lang="en-US" sz="2700" dirty="0">
              <a:solidFill>
                <a:srgbClr val="163048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9057974" y="1918671"/>
            <a:ext cx="8603028" cy="5859794"/>
          </a:xfrm>
          <a:custGeom>
            <a:avLst/>
            <a:gdLst/>
            <a:ahLst/>
            <a:cxnLst/>
            <a:rect l="l" t="t" r="r" b="b"/>
            <a:pathLst>
              <a:path w="8603028" h="5859794">
                <a:moveTo>
                  <a:pt x="0" y="0"/>
                </a:moveTo>
                <a:lnTo>
                  <a:pt x="8603027" y="0"/>
                </a:lnTo>
                <a:lnTo>
                  <a:pt x="8603027" y="5859794"/>
                </a:lnTo>
                <a:lnTo>
                  <a:pt x="0" y="5859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8" t="-10888" r="-908"/>
            </a:stretch>
          </a:blipFill>
        </p:spPr>
        <p:txBody>
          <a:bodyPr/>
          <a:lstStyle/>
          <a:p>
            <a:pPr>
              <a:defRPr>
                <a:latin typeface="標楷體"/>
                <a:ea typeface="標楷體"/>
                <a:cs typeface="標楷體"/>
              </a:defRPr>
            </a:pPr>
            <a:endParaRPr>
              <a:latin typeface="標楷體"/>
              <a:ea typeface="標楷體"/>
              <a:cs typeface="標楷體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77240" y="640080"/>
            <a:ext cx="16733520" cy="8229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4400" b="1" dirty="0" err="1">
                <a:solidFill>
                  <a:srgbClr val="163048"/>
                </a:solidFill>
                <a:latin typeface="標楷體"/>
                <a:ea typeface="標楷體"/>
                <a:cs typeface="標楷體"/>
                <a:sym typeface="Noto Sans CJK TC"/>
              </a:rPr>
              <a:t>大綱</a:t>
            </a:r>
            <a:endParaRPr lang="en-US" sz="4500" b="1" dirty="0">
              <a:solidFill>
                <a:srgbClr val="163048"/>
              </a:solidFill>
              <a:latin typeface="標楷體"/>
              <a:ea typeface="標楷體"/>
              <a:cs typeface="標楷體"/>
              <a:sym typeface="Noto Sans CJK TC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779240" y="9646920"/>
            <a:ext cx="502920" cy="3200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506780"/>
                </a:solidFill>
                <a:latin typeface="標楷體"/>
                <a:ea typeface="標楷體"/>
                <a:cs typeface="標楷體"/>
              </a:defRPr>
            </a:pPr>
            <a:r>
              <a:rPr lang="en-US" sz="1600" spc="2">
                <a:solidFill>
                  <a:srgbClr val="506780"/>
                </a:solidFill>
                <a:latin typeface="標楷體"/>
                <a:ea typeface="標楷體"/>
                <a:cs typeface="標楷體"/>
                <a:sym typeface="Noto Sans CJK TC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5840" y="2651760"/>
            <a:ext cx="7680960" cy="7772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壹、國防用途與建議說明</a:t>
            </a:r>
            <a:endParaRPr lang="en-US" sz="3150" b="1" dirty="0">
              <a:solidFill>
                <a:srgbClr val="163048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5840" y="3840480"/>
            <a:ext cx="7680960" cy="7772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貳、設計構想暨</a:t>
            </a:r>
            <a:r>
              <a:rPr lang="en-US" sz="3000" b="1" dirty="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 AI </a:t>
            </a:r>
            <a:r>
              <a:rPr lang="en-US" sz="3000" b="1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技術運用說明</a:t>
            </a:r>
            <a:endParaRPr lang="en-US" sz="3150" b="1" dirty="0">
              <a:solidFill>
                <a:srgbClr val="163048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05840" y="5029200"/>
            <a:ext cx="7680960" cy="7772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參、預期效益</a:t>
            </a:r>
            <a:endParaRPr lang="en-US" sz="3150" b="1" dirty="0">
              <a:solidFill>
                <a:srgbClr val="163048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05840" y="6217920"/>
            <a:ext cx="7680960" cy="7772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肆、驗證方式</a:t>
            </a:r>
            <a:endParaRPr lang="en-US" sz="3150" b="1" dirty="0">
              <a:solidFill>
                <a:srgbClr val="163048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77240" y="640080"/>
            <a:ext cx="16733520" cy="8229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4400" b="1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壹、國防用途與建議說明</a:t>
            </a:r>
            <a:endParaRPr lang="en-US" sz="4500" b="1" dirty="0">
              <a:solidFill>
                <a:srgbClr val="163048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779240" y="9646920"/>
            <a:ext cx="502920" cy="3200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506780"/>
                </a:solidFill>
                <a:latin typeface="標楷體"/>
                <a:ea typeface="標楷體"/>
                <a:cs typeface="標楷體"/>
              </a:defRPr>
            </a:pPr>
            <a:r>
              <a:rPr lang="en-US" sz="1600" spc="2">
                <a:solidFill>
                  <a:srgbClr val="506780"/>
                </a:solidFill>
                <a:latin typeface="標楷體"/>
                <a:ea typeface="標楷體"/>
                <a:cs typeface="標楷體"/>
                <a:sym typeface="Noto Sans CJK TC"/>
              </a:rPr>
              <a:t>03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469880" y="3246120"/>
            <a:ext cx="6126480" cy="868680"/>
            <a:chOff x="0" y="0"/>
            <a:chExt cx="7186158" cy="10665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86158" cy="1066598"/>
            </a:xfrm>
            <a:custGeom>
              <a:avLst/>
              <a:gdLst/>
              <a:ahLst/>
              <a:cxnLst/>
              <a:rect l="l" t="t" r="r" b="b"/>
              <a:pathLst>
                <a:path w="7186158" h="1066598">
                  <a:moveTo>
                    <a:pt x="0" y="177766"/>
                  </a:moveTo>
                  <a:cubicBezTo>
                    <a:pt x="0" y="79590"/>
                    <a:pt x="89513" y="0"/>
                    <a:pt x="199930" y="0"/>
                  </a:cubicBezTo>
                  <a:lnTo>
                    <a:pt x="6986229" y="0"/>
                  </a:lnTo>
                  <a:cubicBezTo>
                    <a:pt x="7096646" y="0"/>
                    <a:pt x="7186158" y="79590"/>
                    <a:pt x="7186158" y="177766"/>
                  </a:cubicBezTo>
                  <a:lnTo>
                    <a:pt x="7186158" y="888832"/>
                  </a:lnTo>
                  <a:cubicBezTo>
                    <a:pt x="7186158" y="987008"/>
                    <a:pt x="7096646" y="1066598"/>
                    <a:pt x="6986229" y="1066598"/>
                  </a:cubicBezTo>
                  <a:lnTo>
                    <a:pt x="199930" y="1066598"/>
                  </a:lnTo>
                  <a:cubicBezTo>
                    <a:pt x="89513" y="1066598"/>
                    <a:pt x="0" y="987008"/>
                    <a:pt x="0" y="8888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652760" y="3383279"/>
            <a:ext cx="5760720" cy="5486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1.遠端影像的評估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1560" y="2331720"/>
            <a:ext cx="6400800" cy="548640"/>
          </a:xfrm>
          <a:prstGeom prst="rect">
            <a:avLst/>
          </a:prstGeom>
        </p:spPr>
        <p:txBody>
          <a:bodyPr wrap="square" lIns="27432" tIns="18288" rIns="27432" bIns="18288" rtlCol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2563EB"/>
                </a:solidFill>
                <a:latin typeface="標楷體"/>
                <a:ea typeface="標楷體"/>
                <a:cs typeface="標楷體"/>
                <a:sym typeface="Noto Sans CJK TC"/>
              </a:rPr>
              <a:t>現況分析</a:t>
            </a:r>
            <a:r>
              <a:rPr lang="en-US" sz="3000" b="1" dirty="0">
                <a:solidFill>
                  <a:srgbClr val="2563EB"/>
                </a:solidFill>
                <a:latin typeface="標楷體"/>
                <a:ea typeface="標楷體"/>
                <a:cs typeface="標楷體"/>
                <a:sym typeface="Noto Sans CJK TC"/>
              </a:rPr>
              <a:t>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69880" y="2331720"/>
            <a:ext cx="6400800" cy="548640"/>
          </a:xfrm>
          <a:prstGeom prst="rect">
            <a:avLst/>
          </a:prstGeom>
        </p:spPr>
        <p:txBody>
          <a:bodyPr wrap="square" lIns="27432" tIns="18288" rIns="27432" bIns="18288" rtlCol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AI輔助改善</a:t>
            </a:r>
            <a:r>
              <a:rPr lang="en-US" sz="3000" b="1" dirty="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: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469880" y="4754880"/>
            <a:ext cx="6126480" cy="868680"/>
            <a:chOff x="0" y="0"/>
            <a:chExt cx="7186158" cy="106659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86158" cy="1066598"/>
            </a:xfrm>
            <a:custGeom>
              <a:avLst/>
              <a:gdLst/>
              <a:ahLst/>
              <a:cxnLst/>
              <a:rect l="l" t="t" r="r" b="b"/>
              <a:pathLst>
                <a:path w="7186158" h="1066598">
                  <a:moveTo>
                    <a:pt x="0" y="177766"/>
                  </a:moveTo>
                  <a:cubicBezTo>
                    <a:pt x="0" y="79590"/>
                    <a:pt x="89513" y="0"/>
                    <a:pt x="199930" y="0"/>
                  </a:cubicBezTo>
                  <a:lnTo>
                    <a:pt x="6986229" y="0"/>
                  </a:lnTo>
                  <a:cubicBezTo>
                    <a:pt x="7096646" y="0"/>
                    <a:pt x="7186158" y="79590"/>
                    <a:pt x="7186158" y="177766"/>
                  </a:cubicBezTo>
                  <a:lnTo>
                    <a:pt x="7186158" y="888832"/>
                  </a:lnTo>
                  <a:cubicBezTo>
                    <a:pt x="7186158" y="987008"/>
                    <a:pt x="7096646" y="1066598"/>
                    <a:pt x="6986229" y="1066598"/>
                  </a:cubicBezTo>
                  <a:lnTo>
                    <a:pt x="199930" y="1066598"/>
                  </a:lnTo>
                  <a:cubicBezTo>
                    <a:pt x="89513" y="1066598"/>
                    <a:pt x="0" y="987008"/>
                    <a:pt x="0" y="8888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652760" y="4892040"/>
            <a:ext cx="5760720" cy="548640"/>
          </a:xfrm>
          <a:prstGeom prst="rect">
            <a:avLst/>
          </a:prstGeom>
        </p:spPr>
        <p:txBody>
          <a:bodyPr wrap="square" lIns="27432" tIns="18288" rIns="27432" bIns="18288" rtlCol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2.三</a:t>
            </a:r>
            <a:r>
              <a:rPr lang="zh-TW" alt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維</a:t>
            </a:r>
            <a:r>
              <a:rPr lang="en-US" sz="2800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模型的輔助測量</a:t>
            </a:r>
            <a:endParaRPr lang="en-US" sz="315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0469880" y="6263640"/>
            <a:ext cx="6126480" cy="868680"/>
            <a:chOff x="0" y="0"/>
            <a:chExt cx="7186158" cy="10665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86158" cy="1066598"/>
            </a:xfrm>
            <a:custGeom>
              <a:avLst/>
              <a:gdLst/>
              <a:ahLst/>
              <a:cxnLst/>
              <a:rect l="l" t="t" r="r" b="b"/>
              <a:pathLst>
                <a:path w="7186158" h="1066598">
                  <a:moveTo>
                    <a:pt x="0" y="177766"/>
                  </a:moveTo>
                  <a:cubicBezTo>
                    <a:pt x="0" y="79590"/>
                    <a:pt x="89513" y="0"/>
                    <a:pt x="199930" y="0"/>
                  </a:cubicBezTo>
                  <a:lnTo>
                    <a:pt x="6986229" y="0"/>
                  </a:lnTo>
                  <a:cubicBezTo>
                    <a:pt x="7096646" y="0"/>
                    <a:pt x="7186158" y="79590"/>
                    <a:pt x="7186158" y="177766"/>
                  </a:cubicBezTo>
                  <a:lnTo>
                    <a:pt x="7186158" y="888832"/>
                  </a:lnTo>
                  <a:cubicBezTo>
                    <a:pt x="7186158" y="987008"/>
                    <a:pt x="7096646" y="1066598"/>
                    <a:pt x="6986229" y="1066598"/>
                  </a:cubicBezTo>
                  <a:lnTo>
                    <a:pt x="199930" y="1066598"/>
                  </a:lnTo>
                  <a:cubicBezTo>
                    <a:pt x="89513" y="1066598"/>
                    <a:pt x="0" y="987008"/>
                    <a:pt x="0" y="8888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652760" y="6400800"/>
            <a:ext cx="5760720" cy="548640"/>
          </a:xfrm>
          <a:prstGeom prst="rect">
            <a:avLst/>
          </a:prstGeom>
        </p:spPr>
        <p:txBody>
          <a:bodyPr wrap="square" lIns="27432" tIns="18288" rIns="27432" bIns="18288" rtlCol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3.AI去分配資源與整合流程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51560" y="3246120"/>
            <a:ext cx="6126480" cy="868680"/>
            <a:chOff x="0" y="0"/>
            <a:chExt cx="7067969" cy="8768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067969" cy="876806"/>
            </a:xfrm>
            <a:custGeom>
              <a:avLst/>
              <a:gdLst/>
              <a:ahLst/>
              <a:cxnLst/>
              <a:rect l="l" t="t" r="r" b="b"/>
              <a:pathLst>
                <a:path w="7067969" h="876806">
                  <a:moveTo>
                    <a:pt x="0" y="146134"/>
                  </a:moveTo>
                  <a:cubicBezTo>
                    <a:pt x="0" y="65427"/>
                    <a:pt x="88040" y="0"/>
                    <a:pt x="196642" y="0"/>
                  </a:cubicBezTo>
                  <a:lnTo>
                    <a:pt x="6871327" y="0"/>
                  </a:lnTo>
                  <a:cubicBezTo>
                    <a:pt x="6979928" y="0"/>
                    <a:pt x="7067969" y="65427"/>
                    <a:pt x="7067969" y="146134"/>
                  </a:cubicBezTo>
                  <a:lnTo>
                    <a:pt x="7067969" y="730672"/>
                  </a:lnTo>
                  <a:cubicBezTo>
                    <a:pt x="7067969" y="811379"/>
                    <a:pt x="6979928" y="876806"/>
                    <a:pt x="6871327" y="876806"/>
                  </a:cubicBezTo>
                  <a:lnTo>
                    <a:pt x="196642" y="876806"/>
                  </a:lnTo>
                  <a:cubicBezTo>
                    <a:pt x="88040" y="876806"/>
                    <a:pt x="0" y="811379"/>
                    <a:pt x="0" y="73067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51560" y="4754880"/>
            <a:ext cx="6126480" cy="868680"/>
            <a:chOff x="0" y="0"/>
            <a:chExt cx="7186158" cy="106659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86158" cy="1066598"/>
            </a:xfrm>
            <a:custGeom>
              <a:avLst/>
              <a:gdLst/>
              <a:ahLst/>
              <a:cxnLst/>
              <a:rect l="l" t="t" r="r" b="b"/>
              <a:pathLst>
                <a:path w="7186158" h="1066598">
                  <a:moveTo>
                    <a:pt x="0" y="177766"/>
                  </a:moveTo>
                  <a:cubicBezTo>
                    <a:pt x="0" y="79590"/>
                    <a:pt x="89513" y="0"/>
                    <a:pt x="199930" y="0"/>
                  </a:cubicBezTo>
                  <a:lnTo>
                    <a:pt x="6986229" y="0"/>
                  </a:lnTo>
                  <a:cubicBezTo>
                    <a:pt x="7096646" y="0"/>
                    <a:pt x="7186158" y="79590"/>
                    <a:pt x="7186158" y="177766"/>
                  </a:cubicBezTo>
                  <a:lnTo>
                    <a:pt x="7186158" y="888832"/>
                  </a:lnTo>
                  <a:cubicBezTo>
                    <a:pt x="7186158" y="987008"/>
                    <a:pt x="7096646" y="1066598"/>
                    <a:pt x="6986229" y="1066598"/>
                  </a:cubicBezTo>
                  <a:lnTo>
                    <a:pt x="199930" y="1066598"/>
                  </a:lnTo>
                  <a:cubicBezTo>
                    <a:pt x="89513" y="1066598"/>
                    <a:pt x="0" y="987008"/>
                    <a:pt x="0" y="8888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51560" y="6263640"/>
            <a:ext cx="6126480" cy="868680"/>
            <a:chOff x="0" y="0"/>
            <a:chExt cx="7186158" cy="106659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86158" cy="1066598"/>
            </a:xfrm>
            <a:custGeom>
              <a:avLst/>
              <a:gdLst/>
              <a:ahLst/>
              <a:cxnLst/>
              <a:rect l="l" t="t" r="r" b="b"/>
              <a:pathLst>
                <a:path w="7186158" h="1066598">
                  <a:moveTo>
                    <a:pt x="0" y="177766"/>
                  </a:moveTo>
                  <a:cubicBezTo>
                    <a:pt x="0" y="79590"/>
                    <a:pt x="89513" y="0"/>
                    <a:pt x="199930" y="0"/>
                  </a:cubicBezTo>
                  <a:lnTo>
                    <a:pt x="6986229" y="0"/>
                  </a:lnTo>
                  <a:cubicBezTo>
                    <a:pt x="7096646" y="0"/>
                    <a:pt x="7186158" y="79590"/>
                    <a:pt x="7186158" y="177766"/>
                  </a:cubicBezTo>
                  <a:lnTo>
                    <a:pt x="7186158" y="888832"/>
                  </a:lnTo>
                  <a:cubicBezTo>
                    <a:pt x="7186158" y="987008"/>
                    <a:pt x="7096646" y="1066598"/>
                    <a:pt x="6986229" y="1066598"/>
                  </a:cubicBezTo>
                  <a:lnTo>
                    <a:pt x="199930" y="1066598"/>
                  </a:lnTo>
                  <a:cubicBezTo>
                    <a:pt x="89513" y="1066598"/>
                    <a:pt x="0" y="987008"/>
                    <a:pt x="0" y="8888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34440" y="3383279"/>
            <a:ext cx="5760720" cy="5486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1.人員進入高風險區域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4440" y="4892040"/>
            <a:ext cx="5760720" cy="5486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2.人工測量耗時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4440" y="6400800"/>
            <a:ext cx="5760720" cy="5486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3.材料估算需人工處理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1FA51CC-4A0F-4332-92B5-EDA40C37660A}"/>
              </a:ext>
            </a:extLst>
          </p:cNvPr>
          <p:cNvSpPr txBox="1"/>
          <p:nvPr/>
        </p:nvSpPr>
        <p:spPr>
          <a:xfrm>
            <a:off x="1051560" y="7635240"/>
            <a:ext cx="15544800" cy="1417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600" b="1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戰爭初期，空軍基地跑道常成為攻擊目標</a:t>
            </a:r>
            <a:endParaRPr lang="en-US" altLang="zh-TW" sz="3600" b="1" dirty="0">
              <a:solidFill>
                <a:schemeClr val="tx2"/>
              </a:solidFill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en-US" altLang="zh-TW" sz="3600" b="1" dirty="0">
              <a:solidFill>
                <a:schemeClr val="tx2"/>
              </a:solidFill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600" b="1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快速應變與修復跑道，是恢復起降能力及反擊的重要關鍵。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77240" y="640080"/>
            <a:ext cx="16733520" cy="8229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4400" b="1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貳、設計構想暨</a:t>
            </a:r>
            <a:r>
              <a:rPr lang="en-US" sz="4400" b="1" dirty="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 AI </a:t>
            </a:r>
            <a:r>
              <a:rPr lang="en-US" sz="4400" b="1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技術運用說明</a:t>
            </a:r>
            <a:endParaRPr lang="en-US" sz="4500" b="1" dirty="0">
              <a:solidFill>
                <a:srgbClr val="163048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779240" y="9646920"/>
            <a:ext cx="502920" cy="3200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506780"/>
                </a:solidFill>
                <a:latin typeface="標楷體"/>
                <a:ea typeface="標楷體"/>
                <a:cs typeface="標楷體"/>
              </a:defRPr>
            </a:pPr>
            <a:r>
              <a:rPr lang="en-US" sz="1600" spc="2">
                <a:solidFill>
                  <a:srgbClr val="506780"/>
                </a:solidFill>
                <a:latin typeface="標楷體"/>
                <a:ea typeface="標楷體"/>
                <a:cs typeface="標楷體"/>
                <a:sym typeface="Noto Sans CJK TC"/>
              </a:rPr>
              <a:t>04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77240" y="2743200"/>
            <a:ext cx="3840480" cy="6080760"/>
            <a:chOff x="0" y="0"/>
            <a:chExt cx="5340096" cy="7772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40096" cy="7772400"/>
            </a:xfrm>
            <a:custGeom>
              <a:avLst/>
              <a:gdLst/>
              <a:ahLst/>
              <a:cxnLst/>
              <a:rect l="l" t="t" r="r" b="b"/>
              <a:pathLst>
                <a:path w="5340096" h="7772400">
                  <a:moveTo>
                    <a:pt x="0" y="1295400"/>
                  </a:moveTo>
                  <a:cubicBezTo>
                    <a:pt x="0" y="580103"/>
                    <a:pt x="286639" y="0"/>
                    <a:pt x="640080" y="0"/>
                  </a:cubicBezTo>
                  <a:lnTo>
                    <a:pt x="4700016" y="0"/>
                  </a:lnTo>
                  <a:cubicBezTo>
                    <a:pt x="5053584" y="0"/>
                    <a:pt x="5340096" y="580103"/>
                    <a:pt x="5340096" y="1295400"/>
                  </a:cubicBezTo>
                  <a:lnTo>
                    <a:pt x="5340096" y="6477000"/>
                  </a:lnTo>
                  <a:cubicBezTo>
                    <a:pt x="5340096" y="7192554"/>
                    <a:pt x="5053457" y="7772400"/>
                    <a:pt x="4700016" y="7772400"/>
                  </a:cubicBezTo>
                  <a:lnTo>
                    <a:pt x="640080" y="7772400"/>
                  </a:lnTo>
                  <a:cubicBezTo>
                    <a:pt x="286639" y="7772400"/>
                    <a:pt x="0" y="7192297"/>
                    <a:pt x="0" y="64770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60120" y="3017520"/>
            <a:ext cx="502920" cy="45720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2200" b="1" spc="3" dirty="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4480" y="2971800"/>
            <a:ext cx="2834640" cy="5486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影像取得</a:t>
            </a:r>
            <a:endParaRPr lang="en-US" sz="315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5166360" y="2743200"/>
            <a:ext cx="3840480" cy="6080760"/>
            <a:chOff x="0" y="0"/>
            <a:chExt cx="5340096" cy="77306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40096" cy="7730630"/>
            </a:xfrm>
            <a:custGeom>
              <a:avLst/>
              <a:gdLst/>
              <a:ahLst/>
              <a:cxnLst/>
              <a:rect l="l" t="t" r="r" b="b"/>
              <a:pathLst>
                <a:path w="5340096" h="7730630">
                  <a:moveTo>
                    <a:pt x="0" y="1288438"/>
                  </a:moveTo>
                  <a:cubicBezTo>
                    <a:pt x="0" y="576985"/>
                    <a:pt x="286639" y="0"/>
                    <a:pt x="640080" y="0"/>
                  </a:cubicBezTo>
                  <a:lnTo>
                    <a:pt x="4700016" y="0"/>
                  </a:lnTo>
                  <a:cubicBezTo>
                    <a:pt x="5053584" y="0"/>
                    <a:pt x="5340096" y="576985"/>
                    <a:pt x="5340096" y="1288438"/>
                  </a:cubicBezTo>
                  <a:lnTo>
                    <a:pt x="5340096" y="6442191"/>
                  </a:lnTo>
                  <a:cubicBezTo>
                    <a:pt x="5340096" y="7153900"/>
                    <a:pt x="5053457" y="7730630"/>
                    <a:pt x="4700016" y="7730630"/>
                  </a:cubicBezTo>
                  <a:lnTo>
                    <a:pt x="640080" y="7730630"/>
                  </a:lnTo>
                  <a:cubicBezTo>
                    <a:pt x="286639" y="7730630"/>
                    <a:pt x="0" y="7153644"/>
                    <a:pt x="0" y="644219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349240" y="3017520"/>
            <a:ext cx="502920" cy="45720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2200" b="1" spc="3" dirty="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43600" y="2971800"/>
            <a:ext cx="2834640" cy="5486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坑洞辨識</a:t>
            </a:r>
            <a:endParaRPr lang="en-US" sz="315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9555480" y="2743200"/>
            <a:ext cx="3840480" cy="6080760"/>
            <a:chOff x="0" y="0"/>
            <a:chExt cx="5340096" cy="7772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40096" cy="7772400"/>
            </a:xfrm>
            <a:custGeom>
              <a:avLst/>
              <a:gdLst/>
              <a:ahLst/>
              <a:cxnLst/>
              <a:rect l="l" t="t" r="r" b="b"/>
              <a:pathLst>
                <a:path w="5340096" h="7772400">
                  <a:moveTo>
                    <a:pt x="0" y="1295400"/>
                  </a:moveTo>
                  <a:cubicBezTo>
                    <a:pt x="0" y="580103"/>
                    <a:pt x="286639" y="0"/>
                    <a:pt x="640080" y="0"/>
                  </a:cubicBezTo>
                  <a:lnTo>
                    <a:pt x="4700016" y="0"/>
                  </a:lnTo>
                  <a:cubicBezTo>
                    <a:pt x="5053584" y="0"/>
                    <a:pt x="5340096" y="580103"/>
                    <a:pt x="5340096" y="1295400"/>
                  </a:cubicBezTo>
                  <a:lnTo>
                    <a:pt x="5340096" y="6477000"/>
                  </a:lnTo>
                  <a:cubicBezTo>
                    <a:pt x="5340096" y="7192554"/>
                    <a:pt x="5053457" y="7772400"/>
                    <a:pt x="4700016" y="7772400"/>
                  </a:cubicBezTo>
                  <a:lnTo>
                    <a:pt x="640080" y="7772400"/>
                  </a:lnTo>
                  <a:cubicBezTo>
                    <a:pt x="286639" y="7772400"/>
                    <a:pt x="0" y="7192297"/>
                    <a:pt x="0" y="64770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738359" y="3017520"/>
            <a:ext cx="502920" cy="45720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2200" b="1" spc="3" dirty="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32719" y="2971800"/>
            <a:ext cx="2834640" cy="5486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幾何估算</a:t>
            </a:r>
            <a:endParaRPr lang="en-US" sz="315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944600" y="2743200"/>
            <a:ext cx="3840480" cy="6080760"/>
            <a:chOff x="0" y="0"/>
            <a:chExt cx="5340096" cy="79237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340096" cy="7923784"/>
            </a:xfrm>
            <a:custGeom>
              <a:avLst/>
              <a:gdLst/>
              <a:ahLst/>
              <a:cxnLst/>
              <a:rect l="l" t="t" r="r" b="b"/>
              <a:pathLst>
                <a:path w="5340096" h="7923784">
                  <a:moveTo>
                    <a:pt x="0" y="1320631"/>
                  </a:moveTo>
                  <a:cubicBezTo>
                    <a:pt x="0" y="591401"/>
                    <a:pt x="286639" y="0"/>
                    <a:pt x="640080" y="0"/>
                  </a:cubicBezTo>
                  <a:lnTo>
                    <a:pt x="4700016" y="0"/>
                  </a:lnTo>
                  <a:cubicBezTo>
                    <a:pt x="5053584" y="0"/>
                    <a:pt x="5340096" y="591401"/>
                    <a:pt x="5340096" y="1320631"/>
                  </a:cubicBezTo>
                  <a:lnTo>
                    <a:pt x="5340096" y="6603154"/>
                  </a:lnTo>
                  <a:cubicBezTo>
                    <a:pt x="5340096" y="7332645"/>
                    <a:pt x="5053457" y="7923784"/>
                    <a:pt x="4700016" y="7923784"/>
                  </a:cubicBezTo>
                  <a:lnTo>
                    <a:pt x="640080" y="7923784"/>
                  </a:lnTo>
                  <a:cubicBezTo>
                    <a:pt x="286639" y="7923784"/>
                    <a:pt x="0" y="7332382"/>
                    <a:pt x="0" y="66031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4127480" y="3017520"/>
            <a:ext cx="502920" cy="45720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2200" b="1" spc="3" dirty="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721840" y="2971800"/>
            <a:ext cx="2834640" cy="5486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2563EB"/>
                </a:solidFill>
                <a:latin typeface="標楷體"/>
                <a:ea typeface="標楷體"/>
                <a:cs typeface="標楷體"/>
                <a:sym typeface="Noto Sans CJK TC"/>
              </a:rPr>
              <a:t>資源調度</a:t>
            </a:r>
            <a:endParaRPr lang="en-US" sz="3150" b="1" dirty="0">
              <a:solidFill>
                <a:schemeClr val="accent1"/>
              </a:solidFill>
              <a:latin typeface="標楷體"/>
              <a:ea typeface="標楷體"/>
              <a:cs typeface="標楷體"/>
              <a:sym typeface="Noto Sans CJK TC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05840" y="5029200"/>
            <a:ext cx="3383280" cy="155448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6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取得彈坑</a:t>
            </a:r>
            <a:r>
              <a:rPr lang="en-US" altLang="zh-TW" sz="26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RGB</a:t>
            </a:r>
            <a:r>
              <a:rPr lang="zh-TW" altLang="en-US" sz="26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影像</a:t>
            </a:r>
            <a:endParaRPr lang="en-US" sz="2400"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5FC1A00-10C9-47CA-9CD5-6D235947B6BE}"/>
              </a:ext>
            </a:extLst>
          </p:cNvPr>
          <p:cNvSpPr txBox="1"/>
          <p:nvPr/>
        </p:nvSpPr>
        <p:spPr>
          <a:xfrm>
            <a:off x="1005840" y="4023360"/>
            <a:ext cx="3383280" cy="685800"/>
          </a:xfrm>
          <a:prstGeom prst="rect">
            <a:avLst/>
          </a:prstGeom>
          <a:noFill/>
        </p:spPr>
        <p:txBody>
          <a:bodyPr wrap="square" rtlCol="0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800" b="1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無人機拍攝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080AA6C-D6F5-42AA-B855-5CC137992291}"/>
              </a:ext>
            </a:extLst>
          </p:cNvPr>
          <p:cNvSpPr txBox="1"/>
          <p:nvPr/>
        </p:nvSpPr>
        <p:spPr>
          <a:xfrm>
            <a:off x="5394960" y="4023360"/>
            <a:ext cx="3383280" cy="685800"/>
          </a:xfrm>
          <a:prstGeom prst="rect">
            <a:avLst/>
          </a:prstGeom>
          <a:noFill/>
        </p:spPr>
        <p:txBody>
          <a:bodyPr wrap="square" rtlCol="0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altLang="zh-TW" sz="2800" b="1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YOLO</a:t>
            </a:r>
            <a:r>
              <a:rPr lang="zh-TW" altLang="en-US" sz="2800" b="1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偵測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B6E480C-052A-4C44-B21B-8F69518AAA25}"/>
              </a:ext>
            </a:extLst>
          </p:cNvPr>
          <p:cNvSpPr txBox="1"/>
          <p:nvPr/>
        </p:nvSpPr>
        <p:spPr>
          <a:xfrm>
            <a:off x="9784080" y="4023360"/>
            <a:ext cx="3383280" cy="685800"/>
          </a:xfrm>
          <a:prstGeom prst="rect">
            <a:avLst/>
          </a:prstGeom>
          <a:noFill/>
        </p:spPr>
        <p:txBody>
          <a:bodyPr wrap="square" rtlCol="0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altLang="zh-TW" sz="2800" b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3D</a:t>
            </a:r>
            <a:r>
              <a:rPr lang="zh-TW" altLang="en-US" sz="2800" b="1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模型重建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B781F7A-0530-46E1-BDDA-A1F50E4F14C5}"/>
              </a:ext>
            </a:extLst>
          </p:cNvPr>
          <p:cNvSpPr txBox="1"/>
          <p:nvPr/>
        </p:nvSpPr>
        <p:spPr>
          <a:xfrm>
            <a:off x="14173200" y="4023360"/>
            <a:ext cx="3383280" cy="685800"/>
          </a:xfrm>
          <a:prstGeom prst="rect">
            <a:avLst/>
          </a:prstGeom>
          <a:noFill/>
        </p:spPr>
        <p:txBody>
          <a:bodyPr wrap="square" rtlCol="0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800" b="1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資源調度</a:t>
            </a:r>
          </a:p>
        </p:txBody>
      </p:sp>
      <p:sp>
        <p:nvSpPr>
          <p:cNvPr id="32" name="TextBox 24">
            <a:extLst>
              <a:ext uri="{FF2B5EF4-FFF2-40B4-BE49-F238E27FC236}">
                <a16:creationId xmlns:a16="http://schemas.microsoft.com/office/drawing/2014/main" id="{F73AD487-8C24-4B60-85AF-CA652E31D310}"/>
              </a:ext>
            </a:extLst>
          </p:cNvPr>
          <p:cNvSpPr txBox="1"/>
          <p:nvPr/>
        </p:nvSpPr>
        <p:spPr>
          <a:xfrm>
            <a:off x="5394960" y="5029200"/>
            <a:ext cx="3383280" cy="155448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6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定位彈坑與範圍</a:t>
            </a:r>
            <a:endParaRPr lang="en-US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A26FE647-9692-4F83-9D0D-BA079B13955C}"/>
              </a:ext>
            </a:extLst>
          </p:cNvPr>
          <p:cNvSpPr txBox="1"/>
          <p:nvPr/>
        </p:nvSpPr>
        <p:spPr>
          <a:xfrm>
            <a:off x="9784080" y="5029200"/>
            <a:ext cx="3383280" cy="155448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6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估算彈坑體積與損壞程度</a:t>
            </a:r>
            <a:endParaRPr lang="en-US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3B1B9C3F-A904-4236-944A-0C000A790ED0}"/>
              </a:ext>
            </a:extLst>
          </p:cNvPr>
          <p:cNvSpPr txBox="1"/>
          <p:nvPr/>
        </p:nvSpPr>
        <p:spPr>
          <a:xfrm>
            <a:off x="14173200" y="5029200"/>
            <a:ext cx="3383280" cy="155448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6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估算材料、人力與修復方案</a:t>
            </a:r>
            <a:endParaRPr lang="en-US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841236" y="4816526"/>
            <a:ext cx="5987197" cy="3906646"/>
          </a:xfrm>
          <a:custGeom>
            <a:avLst/>
            <a:gdLst/>
            <a:ahLst/>
            <a:cxnLst/>
            <a:rect l="l" t="t" r="r" b="b"/>
            <a:pathLst>
              <a:path w="5987197" h="3906646">
                <a:moveTo>
                  <a:pt x="0" y="0"/>
                </a:moveTo>
                <a:lnTo>
                  <a:pt x="5987198" y="0"/>
                </a:lnTo>
                <a:lnTo>
                  <a:pt x="5987198" y="3906646"/>
                </a:lnTo>
                <a:lnTo>
                  <a:pt x="0" y="3906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>
                <a:latin typeface="標楷體"/>
                <a:ea typeface="標楷體"/>
                <a:cs typeface="標楷體"/>
              </a:defRPr>
            </a:pPr>
            <a:endParaRPr>
              <a:latin typeface="標楷體"/>
              <a:ea typeface="標楷體"/>
              <a:cs typeface="標楷體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328190" y="4816526"/>
            <a:ext cx="6862530" cy="3981943"/>
          </a:xfrm>
          <a:custGeom>
            <a:avLst/>
            <a:gdLst/>
            <a:ahLst/>
            <a:cxnLst/>
            <a:rect l="l" t="t" r="r" b="b"/>
            <a:pathLst>
              <a:path w="6862530" h="3981943">
                <a:moveTo>
                  <a:pt x="0" y="0"/>
                </a:moveTo>
                <a:lnTo>
                  <a:pt x="6862530" y="0"/>
                </a:lnTo>
                <a:lnTo>
                  <a:pt x="6862530" y="3981943"/>
                </a:lnTo>
                <a:lnTo>
                  <a:pt x="0" y="39819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20" t="-30224" r="-1529"/>
            </a:stretch>
          </a:blipFill>
        </p:spPr>
        <p:txBody>
          <a:bodyPr/>
          <a:lstStyle/>
          <a:p>
            <a:pPr>
              <a:defRPr>
                <a:latin typeface="標楷體"/>
                <a:ea typeface="標楷體"/>
                <a:cs typeface="標楷體"/>
              </a:defRPr>
            </a:pPr>
            <a:endParaRPr>
              <a:latin typeface="標楷體"/>
              <a:ea typeface="標楷體"/>
              <a:cs typeface="標楷體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779240" y="9646920"/>
            <a:ext cx="502920" cy="3200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506780"/>
                </a:solidFill>
                <a:latin typeface="標楷體"/>
                <a:ea typeface="標楷體"/>
                <a:cs typeface="標楷體"/>
              </a:defRPr>
            </a:pPr>
            <a:r>
              <a:rPr lang="en-US" sz="1600" spc="2">
                <a:solidFill>
                  <a:srgbClr val="506780"/>
                </a:solidFill>
                <a:latin typeface="標楷體"/>
                <a:ea typeface="標楷體"/>
                <a:cs typeface="標楷體"/>
                <a:sym typeface="Noto Sans CJK TC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240" y="640080"/>
            <a:ext cx="16733520" cy="8229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4400" b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01影像取得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8680" y="2423160"/>
            <a:ext cx="6949440" cy="548640"/>
          </a:xfrm>
          <a:prstGeom prst="rect">
            <a:avLst/>
          </a:prstGeom>
        </p:spPr>
        <p:txBody>
          <a:bodyPr wrap="square" lIns="27432" tIns="18288" rIns="27432" bIns="18288" rtlCol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衛星圖</a:t>
            </a:r>
            <a:r>
              <a:rPr lang="en-US" sz="3000" b="1" dirty="0">
                <a:solidFill>
                  <a:srgbClr val="2563EB"/>
                </a:solidFill>
                <a:latin typeface="標楷體"/>
                <a:ea typeface="標楷體"/>
                <a:cs typeface="標楷體"/>
                <a:sym typeface="Noto Sans CJK TC"/>
              </a:rPr>
              <a:t>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8680" y="3337560"/>
            <a:ext cx="6400800" cy="109728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sz="2600" b="1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無法精確地辨識坑洞的體積與深度</a:t>
            </a:r>
            <a:endParaRPr lang="en-US" sz="2650" b="1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149840" y="2423160"/>
            <a:ext cx="6949440" cy="548640"/>
          </a:xfrm>
          <a:prstGeom prst="rect">
            <a:avLst/>
          </a:prstGeom>
        </p:spPr>
        <p:txBody>
          <a:bodyPr wrap="square" lIns="27432" tIns="18288" rIns="27432" bIns="18288" rtlCol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2563EB"/>
                </a:solidFill>
                <a:latin typeface="標楷體"/>
                <a:ea typeface="標楷體"/>
                <a:cs typeface="標楷體"/>
                <a:sym typeface="Noto Sans CJK TC"/>
              </a:rPr>
              <a:t>無人機拍攝</a:t>
            </a:r>
            <a:r>
              <a:rPr lang="en-US" sz="3000" b="1" dirty="0">
                <a:solidFill>
                  <a:srgbClr val="2563EB"/>
                </a:solidFill>
                <a:latin typeface="標楷體"/>
                <a:ea typeface="標楷體"/>
                <a:cs typeface="標楷體"/>
                <a:sym typeface="Noto Sans CJK TC"/>
              </a:rPr>
              <a:t>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49840" y="3337560"/>
            <a:ext cx="6858000" cy="109728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sz="2600" b="1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可經由近距離的拍攝多張照片或錄影</a:t>
            </a:r>
            <a:r>
              <a:rPr lang="en-US" sz="2600" b="1" dirty="0" err="1">
                <a:solidFill>
                  <a:srgbClr val="000000"/>
                </a:solidFill>
                <a:latin typeface="標楷體"/>
                <a:ea typeface="標楷體"/>
                <a:cs typeface="標楷體"/>
                <a:sym typeface="Noto Sans CJK TC"/>
              </a:rPr>
              <a:t>，達到分析體積與深度的成效</a:t>
            </a:r>
            <a:endParaRPr lang="en-US" sz="2650" b="1" dirty="0">
              <a:solidFill>
                <a:srgbClr val="000000"/>
              </a:solidFill>
              <a:latin typeface="標楷體"/>
              <a:ea typeface="標楷體"/>
              <a:cs typeface="標楷體"/>
              <a:sym typeface="Noto Sans CJK T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1978640" y="2011680"/>
            <a:ext cx="5303520" cy="2743200"/>
          </a:xfrm>
          <a:custGeom>
            <a:avLst/>
            <a:gdLst/>
            <a:ahLst/>
            <a:cxnLst/>
            <a:rect l="l" t="t" r="r" b="b"/>
            <a:pathLst>
              <a:path w="5421639" h="2790554">
                <a:moveTo>
                  <a:pt x="0" y="0"/>
                </a:moveTo>
                <a:lnTo>
                  <a:pt x="5421639" y="0"/>
                </a:lnTo>
                <a:lnTo>
                  <a:pt x="5421639" y="2790553"/>
                </a:lnTo>
                <a:lnTo>
                  <a:pt x="0" y="279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360" t="-15322" r="-29226" b="-74809"/>
            </a:stretch>
          </a:blipFill>
        </p:spPr>
        <p:txBody>
          <a:bodyPr/>
          <a:lstStyle/>
          <a:p>
            <a:pPr>
              <a:defRPr>
                <a:latin typeface="標楷體"/>
                <a:ea typeface="標楷體"/>
                <a:cs typeface="標楷體"/>
              </a:defRPr>
            </a:pPr>
            <a:endParaRPr>
              <a:latin typeface="標楷體"/>
              <a:ea typeface="標楷體"/>
              <a:cs typeface="標楷體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1978640" y="5577840"/>
            <a:ext cx="5303520" cy="2743200"/>
          </a:xfrm>
          <a:custGeom>
            <a:avLst/>
            <a:gdLst/>
            <a:ahLst/>
            <a:cxnLst/>
            <a:rect l="l" t="t" r="r" b="b"/>
            <a:pathLst>
              <a:path w="5324863" h="3183735">
                <a:moveTo>
                  <a:pt x="0" y="0"/>
                </a:moveTo>
                <a:lnTo>
                  <a:pt x="5324863" y="0"/>
                </a:lnTo>
                <a:lnTo>
                  <a:pt x="5324863" y="3183735"/>
                </a:lnTo>
                <a:lnTo>
                  <a:pt x="0" y="31837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7733" b="-13773"/>
            </a:stretch>
          </a:blipFill>
        </p:spPr>
        <p:txBody>
          <a:bodyPr/>
          <a:lstStyle/>
          <a:p>
            <a:pPr>
              <a:defRPr>
                <a:latin typeface="標楷體"/>
                <a:ea typeface="標楷體"/>
                <a:cs typeface="標楷體"/>
              </a:defRPr>
            </a:pPr>
            <a:endParaRPr>
              <a:latin typeface="標楷體"/>
              <a:ea typeface="標楷體"/>
              <a:cs typeface="標楷體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82880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標楷體"/>
                <a:ea typeface="標楷體"/>
                <a:cs typeface="標楷體"/>
              </a:defRPr>
            </a:pPr>
            <a:endParaRPr>
              <a:latin typeface="標楷體"/>
              <a:ea typeface="標楷體"/>
              <a:cs typeface="標楷體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40080"/>
            <a:ext cx="16733520" cy="8229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dirty="0" sz="4400">
                <a:solidFill>
                  <a:srgbClr val="163048"/>
                </a:solidFill>
                <a:latin typeface="標楷體"/>
                <a:ea typeface="標楷體"/>
                <a:cs typeface="標楷體"/>
              </a:rPr>
              <a:t>02 </a:t>
            </a:r>
            <a:r>
              <a:rPr dirty="0" err="1" sz="440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坑洞辨識</a:t>
            </a:r>
            <a:r>
              <a:rPr dirty="0" err="1" sz="4400">
                <a:solidFill>
                  <a:srgbClr val="163048"/>
                </a:solidFill>
                <a:latin typeface="標楷體"/>
                <a:ea typeface="標楷體"/>
                <a:cs typeface="標楷體"/>
              </a:rPr>
              <a:t>｜讓</a:t>
            </a:r>
            <a:r>
              <a:rPr dirty="0" sz="4400">
                <a:solidFill>
                  <a:srgbClr val="163048"/>
                </a:solidFill>
                <a:latin typeface="標楷體"/>
                <a:ea typeface="標楷體"/>
                <a:cs typeface="標楷體"/>
              </a:rPr>
              <a:t> YOLO </a:t>
            </a:r>
            <a:r>
              <a:rPr dirty="0" err="1" sz="4400">
                <a:solidFill>
                  <a:srgbClr val="163048"/>
                </a:solidFill>
                <a:latin typeface="標楷體"/>
                <a:ea typeface="標楷體"/>
                <a:cs typeface="標楷體"/>
              </a:rPr>
              <a:t>學會區分彈坑</a:t>
            </a:r>
            <a:endParaRPr dirty="0">
              <a:latin typeface="標楷體"/>
              <a:ea typeface="標楷體"/>
              <a:cs typeface="標楷體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779240" y="9646920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06780"/>
                </a:solidFill>
                <a:latin typeface="標楷體"/>
                <a:ea typeface="標楷體"/>
                <a:cs typeface="標楷體"/>
              </a:defRPr>
            </a:pPr>
            <a:r>
              <a:rPr sz="1600">
                <a:solidFill>
                  <a:srgbClr val="506780"/>
                </a:solidFill>
                <a:latin typeface="標楷體"/>
                <a:ea typeface="標楷體"/>
                <a:cs typeface="標楷體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dirty="0" err="1" sz="300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核心方法：正例＋反例＋多角度影像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906995"/>
              </p:ext>
            </p:extLst>
          </p:nvPr>
        </p:nvGraphicFramePr>
        <p:xfrm>
          <a:off x="777240" y="2971800"/>
          <a:ext cx="10515600" cy="407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500" b="1">
                          <a:solidFill>
                            <a:srgbClr val="FFFFFF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500" b="1">
                          <a:solidFill>
                            <a:srgbClr val="FFFF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資料設計</a:t>
                      </a:r>
                      <a:endParaRPr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37160" marR="137160" anchor="ctr" marT="73152" marB="73152">
                    <a:solidFill>
                      <a:srgbClr val="2563EB"/>
                    </a:solidFill>
                  </a:tcPr>
                </a:tc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500" b="1">
                          <a:solidFill>
                            <a:srgbClr val="FFFFFF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500" b="1">
                          <a:solidFill>
                            <a:srgbClr val="FFFF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蒐集重點</a:t>
                      </a:r>
                      <a:endParaRPr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37160" marR="137160" anchor="ctr" marT="73152" marB="73152">
                    <a:solidFill>
                      <a:srgbClr val="2563EB"/>
                    </a:solidFill>
                  </a:tcPr>
                </a:tc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500" b="1">
                          <a:solidFill>
                            <a:srgbClr val="FFFFFF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500" b="1">
                          <a:solidFill>
                            <a:srgbClr val="FFFF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目的</a:t>
                      </a:r>
                      <a:endParaRPr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37160" marR="137160" anchor="ctr" marT="73152" marB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568"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5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5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彈坑正例</a:t>
                      </a:r>
                      <a:endParaRPr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37160" marR="137160" anchor="ctr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5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5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不同光線、角度與大小</a:t>
                      </a:r>
                      <a:endParaRPr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37160" marR="137160" anchor="ctr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5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5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辨識彈坑特徵</a:t>
                      </a:r>
                      <a:endParaRPr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37160" marR="137160" anchor="ctr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5568"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5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5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非彈坑反例</a:t>
                      </a:r>
                      <a:endParaRPr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37160" marR="137160" anchor="ctr" marT="73152" marB="73152">
                    <a:solidFill>
                      <a:srgbClr val="EAF1FD"/>
                    </a:solidFill>
                  </a:tcPr>
                </a:tc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 marL="0" algn="l" defTabSz="1371600" rtl="0" eaLnBrk="1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5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sz="2500" b="0" kern="1200" dirty="0" err="1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路面坑洞等相似外觀</a:t>
                      </a:r>
                      <a:endParaRPr sz="2400" b="0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37160" marR="137160" anchor="ctr" marT="73152" marB="73152">
                    <a:solidFill>
                      <a:srgbClr val="EAF1FD"/>
                    </a:solidFill>
                  </a:tcPr>
                </a:tc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5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5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降低誤判</a:t>
                      </a:r>
                      <a:endParaRPr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37160" marR="137160" anchor="ctr" marT="73152" marB="73152">
                    <a:solidFill>
                      <a:srgbClr val="EAF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5568"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5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5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無人機影像</a:t>
                      </a:r>
                      <a:endParaRPr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37160" marR="137160" anchor="ctr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5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5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同一坑洞的多角度照片</a:t>
                      </a:r>
                      <a:endParaRPr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37160" marR="137160" anchor="ctr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5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5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補充辨識資訊</a:t>
                      </a:r>
                      <a:endParaRPr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37160" marR="137160" anchor="ctr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1978640" y="4773168"/>
            <a:ext cx="530352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dirty="0" err="1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正例示意：彈坑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978640" y="8348472"/>
            <a:ext cx="530352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dirty="0" err="1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反例示意：路面坑洞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A20F807-B0A6-480A-9DA7-EA98F94A446B}"/>
              </a:ext>
            </a:extLst>
          </p:cNvPr>
          <p:cNvSpPr txBox="1"/>
          <p:nvPr/>
        </p:nvSpPr>
        <p:spPr>
          <a:xfrm>
            <a:off x="777240" y="7452360"/>
            <a:ext cx="10515600" cy="12344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800" b="1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建立</a:t>
            </a:r>
            <a:r>
              <a:rPr lang="en-US" altLang="zh-TW" sz="2800" b="1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YOLO</a:t>
            </a:r>
            <a:r>
              <a:rPr lang="zh-TW" altLang="en-US" sz="2800" b="1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資料集、無人機影像輔助</a:t>
            </a:r>
            <a:endParaRPr lang="en-US" altLang="zh-TW" sz="3600" b="1" dirty="0">
              <a:solidFill>
                <a:schemeClr val="tx2"/>
              </a:solidFill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800" b="1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專門訓練分辨彈坑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9372600" y="2743200"/>
            <a:ext cx="8046720" cy="4023360"/>
          </a:xfrm>
          <a:custGeom>
            <a:avLst/>
            <a:gdLst/>
            <a:ahLst/>
            <a:cxnLst/>
            <a:rect l="l" t="t" r="r" b="b"/>
            <a:pathLst>
              <a:path w="9135120" h="4558441">
                <a:moveTo>
                  <a:pt x="0" y="0"/>
                </a:moveTo>
                <a:lnTo>
                  <a:pt x="9135120" y="0"/>
                </a:lnTo>
                <a:lnTo>
                  <a:pt x="9135120" y="4558441"/>
                </a:lnTo>
                <a:lnTo>
                  <a:pt x="0" y="4558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169" t="-54624"/>
            </a:stretch>
          </a:blipFill>
        </p:spPr>
        <p:txBody>
          <a:bodyPr/>
          <a:lstStyle/>
          <a:p>
            <a:pPr>
              <a:defRPr>
                <a:latin typeface="標楷體"/>
                <a:ea typeface="標楷體"/>
                <a:cs typeface="標楷體"/>
              </a:defRPr>
            </a:pPr>
            <a:endParaRPr>
              <a:latin typeface="標楷體"/>
              <a:ea typeface="標楷體"/>
              <a:cs typeface="標楷體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82880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標楷體"/>
                <a:ea typeface="標楷體"/>
                <a:cs typeface="標楷體"/>
              </a:defRPr>
            </a:pPr>
            <a:endParaRPr>
              <a:latin typeface="標楷體"/>
              <a:ea typeface="標楷體"/>
              <a:cs typeface="標楷體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6733520" cy="8229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sz="440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03 幾何估算｜以 3DGS 加速重建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79240" y="9646920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06780"/>
                </a:solidFill>
                <a:latin typeface="標楷體"/>
                <a:ea typeface="標楷體"/>
                <a:cs typeface="標楷體"/>
              </a:defRPr>
            </a:pPr>
            <a:r>
              <a:rPr sz="1600">
                <a:solidFill>
                  <a:srgbClr val="506780"/>
                </a:solidFill>
                <a:latin typeface="標楷體"/>
                <a:ea typeface="標楷體"/>
                <a:cs typeface="標楷體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28800"/>
            <a:ext cx="1645920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sz="300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目標：縮短重建等待時間，支援快速災損評估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954592"/>
              </p:ext>
            </p:extLst>
          </p:nvPr>
        </p:nvGraphicFramePr>
        <p:xfrm>
          <a:off x="777240" y="3291840"/>
          <a:ext cx="78638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600" b="1">
                          <a:solidFill>
                            <a:srgbClr val="FFFFFF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600" b="1">
                          <a:solidFill>
                            <a:srgbClr val="FFFF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方法</a:t>
                      </a:r>
                      <a:endParaRPr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64592" marR="164592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600" b="1">
                          <a:solidFill>
                            <a:srgbClr val="FFFFFF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600" b="1">
                          <a:solidFill>
                            <a:srgbClr val="FFFF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重建時間</a:t>
                      </a:r>
                      <a:endParaRPr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64592" marR="164592"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6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6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傳統</a:t>
                      </a:r>
                      <a:r>
                        <a:rPr dirty="0" sz="26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 3D </a:t>
                      </a:r>
                      <a:r>
                        <a:rPr dirty="0" err="1" sz="26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建模</a:t>
                      </a:r>
                      <a:endParaRPr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6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6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估計：幾小時至半天</a:t>
                      </a:r>
                      <a:endParaRPr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6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sz="26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3DGS </a:t>
                      </a:r>
                      <a:r>
                        <a:rPr dirty="0" err="1" sz="26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實景重建</a:t>
                      </a:r>
                      <a:endParaRPr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64592" marR="164592" anchor="ctr">
                    <a:solidFill>
                      <a:srgbClr val="EAF1FD"/>
                    </a:solidFill>
                  </a:tcPr>
                </a:tc>
                <a:tc>
                  <a:txBody>
                    <a:bodyPr wrap="square" lIns="27432" rIns="27432" tIns="18288" bIns="18288" anchor="ctr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6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defRPr>
                      </a:pPr>
                      <a:r>
                        <a:rPr dirty="0" err="1" sz="2600" b="0">
                          <a:solidFill>
                            <a:srgbClr val="00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/>
                        </a:rPr>
                        <a:t>預期目標：幾分鐘</a:t>
                      </a:r>
                      <a:endParaRPr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/>
                      </a:endParaRPr>
                    </a:p>
                  </a:txBody>
                  <a:tcPr marL="164592" marR="164592" anchor="ctr">
                    <a:solidFill>
                      <a:srgbClr val="EAF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418320" y="6903720"/>
            <a:ext cx="8046720" cy="5486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dirty="0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3D </a:t>
            </a:r>
            <a:r>
              <a:rPr dirty="0" err="1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模型示意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779240" y="9646920"/>
            <a:ext cx="502920" cy="3200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506780"/>
                </a:solidFill>
                <a:latin typeface="標楷體"/>
                <a:ea typeface="標楷體"/>
                <a:cs typeface="標楷體"/>
              </a:defRPr>
            </a:pPr>
            <a:r>
              <a:rPr lang="en-US" sz="1600" spc="2">
                <a:solidFill>
                  <a:srgbClr val="506780"/>
                </a:solidFill>
                <a:latin typeface="標楷體"/>
                <a:ea typeface="標楷體"/>
                <a:cs typeface="標楷體"/>
                <a:sym typeface="Noto Sans CJK TC"/>
              </a:rPr>
              <a:t>08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555480" y="2926080"/>
            <a:ext cx="3840480" cy="3749039"/>
            <a:chOff x="0" y="0"/>
            <a:chExt cx="5303520" cy="48800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03520" cy="4880089"/>
            </a:xfrm>
            <a:custGeom>
              <a:avLst/>
              <a:gdLst/>
              <a:ahLst/>
              <a:cxnLst/>
              <a:rect l="l" t="t" r="r" b="b"/>
              <a:pathLst>
                <a:path w="5303520" h="4880089">
                  <a:moveTo>
                    <a:pt x="0" y="813348"/>
                  </a:moveTo>
                  <a:cubicBezTo>
                    <a:pt x="0" y="364231"/>
                    <a:pt x="286639" y="0"/>
                    <a:pt x="640080" y="0"/>
                  </a:cubicBezTo>
                  <a:lnTo>
                    <a:pt x="4663440" y="0"/>
                  </a:lnTo>
                  <a:cubicBezTo>
                    <a:pt x="5017008" y="0"/>
                    <a:pt x="5303520" y="364231"/>
                    <a:pt x="5303520" y="813348"/>
                  </a:cubicBezTo>
                  <a:lnTo>
                    <a:pt x="5303520" y="4066741"/>
                  </a:lnTo>
                  <a:cubicBezTo>
                    <a:pt x="5303520" y="4516019"/>
                    <a:pt x="5016881" y="4880089"/>
                    <a:pt x="4663440" y="4880089"/>
                  </a:cubicBezTo>
                  <a:lnTo>
                    <a:pt x="640080" y="4880089"/>
                  </a:lnTo>
                  <a:cubicBezTo>
                    <a:pt x="286639" y="4880089"/>
                    <a:pt x="0" y="4515857"/>
                    <a:pt x="0" y="406674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 dirty="0"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738359" y="3200400"/>
            <a:ext cx="502920" cy="45720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2200" b="1" spc="3" dirty="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03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944600" y="2926080"/>
            <a:ext cx="3840480" cy="3749039"/>
            <a:chOff x="0" y="0"/>
            <a:chExt cx="5303520" cy="47794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03520" cy="4779482"/>
            </a:xfrm>
            <a:custGeom>
              <a:avLst/>
              <a:gdLst/>
              <a:ahLst/>
              <a:cxnLst/>
              <a:rect l="l" t="t" r="r" b="b"/>
              <a:pathLst>
                <a:path w="5303520" h="4779482">
                  <a:moveTo>
                    <a:pt x="0" y="796580"/>
                  </a:moveTo>
                  <a:cubicBezTo>
                    <a:pt x="0" y="356723"/>
                    <a:pt x="286639" y="0"/>
                    <a:pt x="640080" y="0"/>
                  </a:cubicBezTo>
                  <a:lnTo>
                    <a:pt x="4663440" y="0"/>
                  </a:lnTo>
                  <a:cubicBezTo>
                    <a:pt x="5017008" y="0"/>
                    <a:pt x="5303520" y="356723"/>
                    <a:pt x="5303520" y="796580"/>
                  </a:cubicBezTo>
                  <a:lnTo>
                    <a:pt x="5303520" y="3982901"/>
                  </a:lnTo>
                  <a:cubicBezTo>
                    <a:pt x="5303520" y="4422917"/>
                    <a:pt x="5016881" y="4779482"/>
                    <a:pt x="4663440" y="4779482"/>
                  </a:cubicBezTo>
                  <a:lnTo>
                    <a:pt x="640080" y="4779482"/>
                  </a:lnTo>
                  <a:cubicBezTo>
                    <a:pt x="286639" y="4779482"/>
                    <a:pt x="0" y="4422759"/>
                    <a:pt x="0" y="398290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 dirty="0"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127480" y="3200400"/>
            <a:ext cx="502920" cy="45720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2200" b="1" spc="3" dirty="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7240" y="640080"/>
            <a:ext cx="16733520" cy="8229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4400" b="1" dirty="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04資源調度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77240" y="2926080"/>
            <a:ext cx="3840480" cy="3749039"/>
            <a:chOff x="0" y="0"/>
            <a:chExt cx="5303520" cy="48800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03520" cy="4880089"/>
            </a:xfrm>
            <a:custGeom>
              <a:avLst/>
              <a:gdLst/>
              <a:ahLst/>
              <a:cxnLst/>
              <a:rect l="l" t="t" r="r" b="b"/>
              <a:pathLst>
                <a:path w="5303520" h="4880089">
                  <a:moveTo>
                    <a:pt x="0" y="813348"/>
                  </a:moveTo>
                  <a:cubicBezTo>
                    <a:pt x="0" y="364231"/>
                    <a:pt x="286639" y="0"/>
                    <a:pt x="640080" y="0"/>
                  </a:cubicBezTo>
                  <a:lnTo>
                    <a:pt x="4663440" y="0"/>
                  </a:lnTo>
                  <a:cubicBezTo>
                    <a:pt x="5017008" y="0"/>
                    <a:pt x="5303520" y="364231"/>
                    <a:pt x="5303520" y="813348"/>
                  </a:cubicBezTo>
                  <a:lnTo>
                    <a:pt x="5303520" y="4066741"/>
                  </a:lnTo>
                  <a:cubicBezTo>
                    <a:pt x="5303520" y="4516019"/>
                    <a:pt x="5016881" y="4880089"/>
                    <a:pt x="4663440" y="4880089"/>
                  </a:cubicBezTo>
                  <a:lnTo>
                    <a:pt x="640080" y="4880089"/>
                  </a:lnTo>
                  <a:cubicBezTo>
                    <a:pt x="286639" y="4880089"/>
                    <a:pt x="0" y="4515857"/>
                    <a:pt x="0" y="406674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 dirty="0"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60120" y="3200400"/>
            <a:ext cx="502920" cy="45720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2200" b="1" spc="3" dirty="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5840" y="4297680"/>
            <a:ext cx="3383280" cy="15087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altLang="zh-TW" sz="26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AI</a:t>
            </a:r>
            <a:r>
              <a:rPr lang="zh-TW" altLang="en-US" sz="26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分析彈坑尺寸、深度與體積</a:t>
            </a:r>
            <a:endParaRPr lang="en-US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5166360" y="2926080"/>
            <a:ext cx="3840480" cy="3749039"/>
            <a:chOff x="0" y="0"/>
            <a:chExt cx="5303520" cy="48800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03520" cy="4880089"/>
            </a:xfrm>
            <a:custGeom>
              <a:avLst/>
              <a:gdLst/>
              <a:ahLst/>
              <a:cxnLst/>
              <a:rect l="l" t="t" r="r" b="b"/>
              <a:pathLst>
                <a:path w="5303520" h="4880089">
                  <a:moveTo>
                    <a:pt x="0" y="813348"/>
                  </a:moveTo>
                  <a:cubicBezTo>
                    <a:pt x="0" y="364231"/>
                    <a:pt x="286639" y="0"/>
                    <a:pt x="640080" y="0"/>
                  </a:cubicBezTo>
                  <a:lnTo>
                    <a:pt x="4663440" y="0"/>
                  </a:lnTo>
                  <a:cubicBezTo>
                    <a:pt x="5017008" y="0"/>
                    <a:pt x="5303520" y="364231"/>
                    <a:pt x="5303520" y="813348"/>
                  </a:cubicBezTo>
                  <a:lnTo>
                    <a:pt x="5303520" y="4066741"/>
                  </a:lnTo>
                  <a:cubicBezTo>
                    <a:pt x="5303520" y="4516019"/>
                    <a:pt x="5016881" y="4880089"/>
                    <a:pt x="4663440" y="4880089"/>
                  </a:cubicBezTo>
                  <a:lnTo>
                    <a:pt x="640080" y="4880089"/>
                  </a:lnTo>
                  <a:cubicBezTo>
                    <a:pt x="286639" y="4880089"/>
                    <a:pt x="0" y="4515857"/>
                    <a:pt x="0" y="406674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 dirty="0"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349240" y="3200400"/>
            <a:ext cx="502920" cy="45720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2200" b="1" spc="3" dirty="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94960" y="4297680"/>
            <a:ext cx="3383280" cy="15087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6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估算水泥、瀝青等材料需求</a:t>
            </a:r>
            <a:endParaRPr lang="en-US" sz="2400" dirty="0" err="1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784080" y="4297680"/>
            <a:ext cx="3383280" cy="15087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6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規劃人力、設備與修復方案</a:t>
            </a:r>
            <a:endParaRPr lang="en-US" sz="2400" dirty="0" err="1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173200" y="4297680"/>
            <a:ext cx="3383280" cy="15087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6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依損害程度與重要性排序</a:t>
            </a:r>
            <a:endParaRPr lang="en-US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20719E94-8234-4750-84ED-DB8A2B9A39BB}"/>
              </a:ext>
            </a:extLst>
          </p:cNvPr>
          <p:cNvSpPr txBox="1"/>
          <p:nvPr/>
        </p:nvSpPr>
        <p:spPr>
          <a:xfrm>
            <a:off x="1554480" y="3127248"/>
            <a:ext cx="2834640" cy="64008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3000" b="1" dirty="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損害評估</a:t>
            </a:r>
            <a:endParaRPr lang="en-US" sz="315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D41575D9-CE1E-4917-B41D-35607118F9DE}"/>
              </a:ext>
            </a:extLst>
          </p:cNvPr>
          <p:cNvSpPr txBox="1"/>
          <p:nvPr/>
        </p:nvSpPr>
        <p:spPr>
          <a:xfrm>
            <a:off x="5943600" y="3127248"/>
            <a:ext cx="2834640" cy="64008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3000" b="1" dirty="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材料估算</a:t>
            </a:r>
            <a:endParaRPr lang="en-US" sz="315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D89D33B2-25FE-4FE4-B8DB-58167ED46BCB}"/>
              </a:ext>
            </a:extLst>
          </p:cNvPr>
          <p:cNvSpPr txBox="1"/>
          <p:nvPr/>
        </p:nvSpPr>
        <p:spPr>
          <a:xfrm>
            <a:off x="14721840" y="3127248"/>
            <a:ext cx="2834640" cy="64008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3000" b="1" dirty="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修復排序</a:t>
            </a:r>
            <a:endParaRPr lang="en-US" sz="315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EFA763B4-F4AA-46F0-92EC-1480D0D1046E}"/>
              </a:ext>
            </a:extLst>
          </p:cNvPr>
          <p:cNvSpPr txBox="1"/>
          <p:nvPr/>
        </p:nvSpPr>
        <p:spPr>
          <a:xfrm>
            <a:off x="10332719" y="3127248"/>
            <a:ext cx="2834640" cy="64008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3000" b="1" dirty="0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資源分配</a:t>
            </a:r>
            <a:endParaRPr lang="en-US" sz="315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ADA6C22B-A65F-4A68-8395-FAEFFA8D09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61925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p/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71836F-3CBA-4B8A-A764-D4F30E6F8725}"/>
              </a:ext>
            </a:extLst>
          </p:cNvPr>
          <p:cNvSpPr>
            <a:spLocks noGrp="1"/>
          </p:cNvSpPr>
          <p:nvPr/>
        </p:nvSpPr>
        <p:spPr>
          <a:xfrm>
            <a:off x="933450" y="1047750"/>
            <a:ext cx="1657350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350" b="0">
                <a:solidFill>
                  <a:srgbClr val="17324D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>
              <a:defRPr sz="4350" b="0">
                <a:solidFill>
                  <a:srgbClr val="17324D"/>
                </a:solidFill>
                <a:latin typeface="標楷體"/>
                <a:ea typeface="標楷體"/>
                <a:cs typeface="標楷體"/>
              </a:defRPr>
            </a:pPr>
            <a:endParaRPr sz="4350" b="0" dirty="0">
              <a:solidFill>
                <a:srgbClr val="17324D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540982-E26C-41D4-800E-A6D57D98D043}"/>
              </a:ext>
            </a:extLst>
          </p:cNvPr>
          <p:cNvSpPr>
            <a:spLocks noGrp="1"/>
          </p:cNvSpPr>
          <p:nvPr/>
        </p:nvSpPr>
        <p:spPr>
          <a:xfrm>
            <a:off x="914400" y="2103120"/>
            <a:ext cx="164592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27432" rIns="27432" tIns="18288" bIns="18288" anchor="ctr">
            <a:noAutofit/>
          </a:bodyPr>
          <a:lstStyle>
            <a:defPPr>
              <a:defRPr sz="5250" b="0">
                <a:solidFill>
                  <a:srgbClr val="17324D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3800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飛機</a:t>
            </a:r>
            <a:r>
              <a:rPr sz="3800" b="0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最小起降帶評估</a:t>
            </a:r>
            <a:endParaRPr sz="5250" b="0" dirty="0">
              <a:solidFill>
                <a:srgbClr val="17324D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DDE1C73-DC7F-4B6B-8103-228F2C7F94E5}"/>
              </a:ext>
            </a:extLst>
          </p:cNvPr>
          <p:cNvSpPr>
            <a:spLocks noGrp="1"/>
          </p:cNvSpPr>
          <p:nvPr/>
        </p:nvSpPr>
        <p:spPr>
          <a:xfrm>
            <a:off x="960120" y="3657600"/>
            <a:ext cx="4480560" cy="33832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70C291-56F4-4534-8BE4-B3FC9B85BEC0}"/>
              </a:ext>
            </a:extLst>
          </p:cNvPr>
          <p:cNvSpPr>
            <a:spLocks noGrp="1"/>
          </p:cNvSpPr>
          <p:nvPr/>
        </p:nvSpPr>
        <p:spPr>
          <a:xfrm>
            <a:off x="1143000" y="3931920"/>
            <a:ext cx="50292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27432" rIns="27432" tIns="18288" bIns="18288" anchor="ctr">
            <a:noAutofit/>
          </a:bodyPr>
          <a:lstStyle>
            <a:defPPr>
              <a:defRPr sz="2400" b="1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00" b="1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F367F0-849D-48F0-A4CC-A5E600FD37DE}"/>
              </a:ext>
            </a:extLst>
          </p:cNvPr>
          <p:cNvSpPr>
            <a:spLocks noGrp="1"/>
          </p:cNvSpPr>
          <p:nvPr/>
        </p:nvSpPr>
        <p:spPr>
          <a:xfrm>
            <a:off x="1691640" y="3840480"/>
            <a:ext cx="356616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27432" rIns="27432" tIns="18288" bIns="18288" anchor="ctr">
            <a:noAutofit/>
          </a:bodyPr>
          <a:lstStyle>
            <a:defPPr>
              <a:defRPr sz="3675" b="1">
                <a:solidFill>
                  <a:srgbClr val="17324D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000" b="1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通行條件</a:t>
            </a:r>
            <a:endParaRPr sz="3675" b="1" dirty="0">
              <a:solidFill>
                <a:schemeClr val="accent1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D61DD6-1194-4D12-AABC-2A1808BAF79E}"/>
              </a:ext>
            </a:extLst>
          </p:cNvPr>
          <p:cNvSpPr>
            <a:spLocks noGrp="1"/>
          </p:cNvSpPr>
          <p:nvPr/>
        </p:nvSpPr>
        <p:spPr>
          <a:xfrm>
            <a:off x="1188720" y="4800600"/>
            <a:ext cx="4023360" cy="1691640"/>
          </a:xfrm>
          <a:prstGeom prst="rect">
            <a:avLst/>
          </a:prstGeom>
          <a:noFill/>
          <a:ln w="0">
            <a:noFill/>
          </a:ln>
        </p:spPr>
        <p:txBody>
          <a:bodyPr wrap="square" lIns="27432" rIns="27432" tIns="18288" bIns="18288" anchor="ctr">
            <a:noAutofit/>
          </a:bodyPr>
          <a:lstStyle>
            <a:defPPr>
              <a:defRPr sz="3000" b="0">
                <a:solidFill>
                  <a:srgbClr val="17324D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80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長</a:t>
            </a:r>
            <a:r>
              <a:rPr lang="zh-TW" altLang="en-US" sz="2800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度、寬度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800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連續性與障礙限制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sz="3000" b="0" dirty="0">
              <a:latin typeface="標楷體"/>
              <a:ea typeface="標楷體"/>
              <a:cs typeface="標楷體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19F872-1580-4D8F-8529-6CE466809B0E}"/>
              </a:ext>
            </a:extLst>
          </p:cNvPr>
          <p:cNvSpPr>
            <a:spLocks noGrp="1"/>
          </p:cNvSpPr>
          <p:nvPr/>
        </p:nvSpPr>
        <p:spPr>
          <a:xfrm>
            <a:off x="5623560" y="4892040"/>
            <a:ext cx="91440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27432" rIns="27432" tIns="18288" bIns="18288" anchor="ctr">
            <a:noAutofit/>
          </a:bodyPr>
          <a:lstStyle>
            <a:defPPr>
              <a:defRPr sz="4875" b="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40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→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6EC423A-1816-4557-ABDC-57CDDFF510BF}"/>
              </a:ext>
            </a:extLst>
          </p:cNvPr>
          <p:cNvSpPr>
            <a:spLocks noGrp="1"/>
          </p:cNvSpPr>
          <p:nvPr/>
        </p:nvSpPr>
        <p:spPr>
          <a:xfrm>
            <a:off x="6903720" y="3657600"/>
            <a:ext cx="4480560" cy="33832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279C6E-6080-4AA8-B1BE-B65BADF1C722}"/>
              </a:ext>
            </a:extLst>
          </p:cNvPr>
          <p:cNvSpPr>
            <a:spLocks noGrp="1"/>
          </p:cNvSpPr>
          <p:nvPr/>
        </p:nvSpPr>
        <p:spPr>
          <a:xfrm>
            <a:off x="7086600" y="3931920"/>
            <a:ext cx="50292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27432" rIns="27432" tIns="18288" bIns="18288" anchor="ctr">
            <a:noAutofit/>
          </a:bodyPr>
          <a:lstStyle>
            <a:defPPr>
              <a:defRPr sz="2400" b="1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00" b="1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1A8DA5-3CB3-47CD-B38E-896521F4204C}"/>
              </a:ext>
            </a:extLst>
          </p:cNvPr>
          <p:cNvSpPr>
            <a:spLocks noGrp="1"/>
          </p:cNvSpPr>
          <p:nvPr/>
        </p:nvSpPr>
        <p:spPr>
          <a:xfrm>
            <a:off x="7635240" y="3840480"/>
            <a:ext cx="356616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27432" rIns="27432" tIns="18288" bIns="18288" anchor="ctr">
            <a:noAutofit/>
          </a:bodyPr>
          <a:lstStyle>
            <a:defPPr>
              <a:defRPr sz="3675" b="1">
                <a:solidFill>
                  <a:srgbClr val="17324D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000" b="1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資源可行性</a:t>
            </a:r>
            <a:endParaRPr sz="3675" b="1" dirty="0">
              <a:solidFill>
                <a:schemeClr val="accent1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970DCC-E062-489A-8165-39504122E28E}"/>
              </a:ext>
            </a:extLst>
          </p:cNvPr>
          <p:cNvSpPr>
            <a:spLocks noGrp="1"/>
          </p:cNvSpPr>
          <p:nvPr/>
        </p:nvSpPr>
        <p:spPr>
          <a:xfrm>
            <a:off x="7132320" y="4800600"/>
            <a:ext cx="4023360" cy="1691640"/>
          </a:xfrm>
          <a:prstGeom prst="rect">
            <a:avLst/>
          </a:prstGeom>
          <a:noFill/>
          <a:ln w="0">
            <a:noFill/>
          </a:ln>
        </p:spPr>
        <p:txBody>
          <a:bodyPr wrap="square" lIns="27432" rIns="27432" tIns="18288" bIns="18288" anchor="ctr">
            <a:noAutofit/>
          </a:bodyPr>
          <a:lstStyle>
            <a:defPPr>
              <a:defRPr sz="3000" b="0">
                <a:solidFill>
                  <a:srgbClr val="17324D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800" b="0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材料、工班</a:t>
            </a:r>
            <a:endParaRPr sz="3000" b="0" dirty="0">
              <a:latin typeface="標楷體"/>
              <a:ea typeface="標楷體"/>
              <a:cs typeface="標楷體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800" b="0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機具與可用時段</a:t>
            </a:r>
            <a:endParaRPr sz="3000" b="0" dirty="0">
              <a:latin typeface="標楷體"/>
              <a:ea typeface="標楷體"/>
              <a:cs typeface="標楷體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E7F9DE-B42E-4A53-851E-7E88B81CF2EF}"/>
              </a:ext>
            </a:extLst>
          </p:cNvPr>
          <p:cNvSpPr>
            <a:spLocks noGrp="1"/>
          </p:cNvSpPr>
          <p:nvPr/>
        </p:nvSpPr>
        <p:spPr>
          <a:xfrm>
            <a:off x="11567160" y="4892040"/>
            <a:ext cx="91440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27432" rIns="27432" tIns="18288" bIns="18288" anchor="ctr">
            <a:noAutofit/>
          </a:bodyPr>
          <a:lstStyle>
            <a:defPPr>
              <a:defRPr sz="4875" b="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40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→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55B9D9D-559B-49FA-8DBF-D830993FEEE5}"/>
              </a:ext>
            </a:extLst>
          </p:cNvPr>
          <p:cNvSpPr>
            <a:spLocks noGrp="1"/>
          </p:cNvSpPr>
          <p:nvPr/>
        </p:nvSpPr>
        <p:spPr>
          <a:xfrm>
            <a:off x="12847320" y="3657600"/>
            <a:ext cx="4480560" cy="33832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D1EE771-FBF9-4174-B56A-695C1FE9F227}"/>
              </a:ext>
            </a:extLst>
          </p:cNvPr>
          <p:cNvSpPr>
            <a:spLocks noGrp="1"/>
          </p:cNvSpPr>
          <p:nvPr/>
        </p:nvSpPr>
        <p:spPr>
          <a:xfrm>
            <a:off x="13030200" y="3931920"/>
            <a:ext cx="50292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27432" rIns="27432" tIns="18288" bIns="18288" anchor="ctr">
            <a:noAutofit/>
          </a:bodyPr>
          <a:lstStyle>
            <a:defPPr>
              <a:defRPr sz="2400" b="1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00" b="1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E23BDA-857F-4679-B185-04D454438777}"/>
              </a:ext>
            </a:extLst>
          </p:cNvPr>
          <p:cNvSpPr>
            <a:spLocks noGrp="1"/>
          </p:cNvSpPr>
          <p:nvPr/>
        </p:nvSpPr>
        <p:spPr>
          <a:xfrm>
            <a:off x="13578840" y="3840480"/>
            <a:ext cx="356616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27432" rIns="27432" tIns="18288" bIns="18288" anchor="ctr">
            <a:noAutofit/>
          </a:bodyPr>
          <a:lstStyle>
            <a:defPPr>
              <a:defRPr sz="3675" b="1">
                <a:solidFill>
                  <a:srgbClr val="17324D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000" b="1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恢復時間比較</a:t>
            </a:r>
            <a:endParaRPr sz="3675" b="1" dirty="0">
              <a:solidFill>
                <a:schemeClr val="accent1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397C72-06E6-407A-AB99-356A5C416AB8}"/>
              </a:ext>
            </a:extLst>
          </p:cNvPr>
          <p:cNvSpPr>
            <a:spLocks noGrp="1"/>
          </p:cNvSpPr>
          <p:nvPr/>
        </p:nvSpPr>
        <p:spPr>
          <a:xfrm>
            <a:off x="13075920" y="4800600"/>
            <a:ext cx="4023360" cy="1691640"/>
          </a:xfrm>
          <a:prstGeom prst="rect">
            <a:avLst/>
          </a:prstGeom>
          <a:noFill/>
          <a:ln w="0">
            <a:noFill/>
          </a:ln>
        </p:spPr>
        <p:txBody>
          <a:bodyPr wrap="square" lIns="27432" rIns="27432" tIns="18288" bIns="18288" anchor="ctr">
            <a:noAutofit/>
          </a:bodyPr>
          <a:lstStyle>
            <a:defPPr>
              <a:defRPr sz="3000" b="0">
                <a:solidFill>
                  <a:srgbClr val="17324D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800" b="0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工序、等待</a:t>
            </a:r>
            <a:endParaRPr sz="3000" b="0" dirty="0">
              <a:latin typeface="標楷體"/>
              <a:ea typeface="標楷體"/>
              <a:cs typeface="標楷體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800" b="0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運輸與覆核條件</a:t>
            </a:r>
            <a:endParaRPr sz="3000" b="0" dirty="0">
              <a:latin typeface="標楷體"/>
              <a:ea typeface="標楷體"/>
              <a:cs typeface="標楷體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6BD9D9-C842-44AB-BD7D-BAD557B76773}"/>
              </a:ext>
            </a:extLst>
          </p:cNvPr>
          <p:cNvSpPr>
            <a:spLocks noGrp="1"/>
          </p:cNvSpPr>
          <p:nvPr/>
        </p:nvSpPr>
        <p:spPr>
          <a:xfrm>
            <a:off x="960120" y="7726679"/>
            <a:ext cx="16367759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27432" rIns="27432" tIns="18288" bIns="18288" anchor="ctr">
            <a:noAutofit/>
          </a:bodyPr>
          <a:lstStyle>
            <a:defPPr>
              <a:defRPr sz="3675" b="1">
                <a:solidFill>
                  <a:srgbClr val="17324D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200" b="1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不符合條件的區域先排除，再比較可行方案</a:t>
            </a:r>
            <a:endParaRPr sz="3675" b="1" dirty="0">
              <a:solidFill>
                <a:srgbClr val="17324D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D39027-B291-4931-B8AD-B42FA73201D0}"/>
              </a:ext>
            </a:extLst>
          </p:cNvPr>
          <p:cNvSpPr>
            <a:spLocks noGrp="1"/>
          </p:cNvSpPr>
          <p:nvPr/>
        </p:nvSpPr>
        <p:spPr>
          <a:xfrm>
            <a:off x="933450" y="9515475"/>
            <a:ext cx="16421100" cy="19050"/>
          </a:xfrm>
          <a:prstGeom prst="rect">
            <a:avLst/>
          </a:prstGeom>
          <a:solidFill>
            <a:srgbClr val="DCE8FA"/>
          </a:solidFill>
          <a:ln w="0">
            <a:noFill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33EAE28-7234-42EC-8299-CD3D1AC6AA3D}"/>
              </a:ext>
            </a:extLst>
          </p:cNvPr>
          <p:cNvSpPr>
            <a:spLocks noGrp="1"/>
          </p:cNvSpPr>
          <p:nvPr/>
        </p:nvSpPr>
        <p:spPr>
          <a:xfrm>
            <a:off x="16779240" y="9646920"/>
            <a:ext cx="502920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27432" rIns="27432" tIns="18288" bIns="18288" anchor="ctr">
            <a:noAutofit/>
          </a:bodyPr>
          <a:lstStyle>
            <a:defPPr>
              <a:defRPr sz="1650" b="0">
                <a:solidFill>
                  <a:srgbClr val="506780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06780"/>
                </a:solidFill>
                <a:latin typeface="標楷體"/>
                <a:ea typeface="標楷體"/>
                <a:cs typeface="標楷體"/>
              </a:defRPr>
            </a:pPr>
            <a:r>
              <a:rPr sz="1600" b="0">
                <a:solidFill>
                  <a:srgbClr val="506780"/>
                </a:solidFill>
                <a:latin typeface="標楷體"/>
                <a:ea typeface="標楷體"/>
                <a:cs typeface="標楷體"/>
              </a:rPr>
              <a:t>09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810E18B4-CC96-48B1-91B3-EC1F8EDE4E39}"/>
              </a:ext>
            </a:extLst>
          </p:cNvPr>
          <p:cNvSpPr txBox="1"/>
          <p:nvPr/>
        </p:nvSpPr>
        <p:spPr>
          <a:xfrm>
            <a:off x="777240" y="640080"/>
            <a:ext cx="16733520" cy="8229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4400" b="1" dirty="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04資源調度</a:t>
            </a:r>
          </a:p>
        </p:txBody>
      </p:sp>
    </p:spTree>
    <p:extLst>
      <p:ext uri="{BB962C8B-B14F-4D97-AF65-F5344CB8AC3E}">
        <p14:creationId xmlns:p14="http://schemas.microsoft.com/office/powerpoint/2010/main" val="77340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77240" y="640080"/>
            <a:ext cx="16733520" cy="8229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4400" b="1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參、預期效益</a:t>
            </a:r>
            <a:endParaRPr lang="en-US" sz="4500" b="1" dirty="0">
              <a:solidFill>
                <a:srgbClr val="163048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779240" y="9646920"/>
            <a:ext cx="502920" cy="3200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506780"/>
                </a:solidFill>
                <a:latin typeface="標楷體"/>
                <a:ea typeface="標楷體"/>
                <a:cs typeface="標楷體"/>
              </a:defRPr>
            </a:pPr>
            <a:r>
              <a:rPr lang="en-US" sz="1600" spc="2">
                <a:solidFill>
                  <a:srgbClr val="506780"/>
                </a:solidFill>
                <a:latin typeface="標楷體"/>
                <a:ea typeface="標楷體"/>
                <a:cs typeface="標楷體"/>
                <a:sym typeface="Noto Sans CJK TC"/>
              </a:rPr>
              <a:t>09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24712" y="2798064"/>
            <a:ext cx="7886700" cy="2276856"/>
            <a:chOff x="0" y="0"/>
            <a:chExt cx="10515600" cy="30358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15600" cy="3035808"/>
            </a:xfrm>
            <a:custGeom>
              <a:avLst/>
              <a:gdLst/>
              <a:ahLst/>
              <a:cxnLst/>
              <a:rect l="l" t="t" r="r" b="b"/>
              <a:pathLst>
                <a:path w="10515600" h="3035808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10009632" y="0"/>
                  </a:lnTo>
                  <a:cubicBezTo>
                    <a:pt x="10289032" y="0"/>
                    <a:pt x="10515600" y="226568"/>
                    <a:pt x="10515600" y="505968"/>
                  </a:cubicBezTo>
                  <a:lnTo>
                    <a:pt x="10515600" y="2529840"/>
                  </a:lnTo>
                  <a:cubicBezTo>
                    <a:pt x="10515600" y="2809240"/>
                    <a:pt x="10289032" y="3035808"/>
                    <a:pt x="10009632" y="3035808"/>
                  </a:cubicBezTo>
                  <a:lnTo>
                    <a:pt x="505968" y="3035808"/>
                  </a:lnTo>
                  <a:cubicBezTo>
                    <a:pt x="226568" y="3035808"/>
                    <a:pt x="0" y="2809240"/>
                    <a:pt x="0" y="25298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7320" y="2999232"/>
            <a:ext cx="7132320" cy="5943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提升災損辨識效率</a:t>
            </a:r>
            <a:endParaRPr lang="en-US" sz="3300" b="1" dirty="0">
              <a:solidFill>
                <a:srgbClr val="2563EB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17320" y="3794760"/>
            <a:ext cx="7132320" cy="1033271"/>
          </a:xfrm>
          <a:prstGeom prst="rect">
            <a:avLst/>
          </a:prstGeom>
        </p:spPr>
        <p:txBody>
          <a:bodyPr wrap="square" lIns="27432" tIns="18288" rIns="27432" bIns="18288" rtlCol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sz="26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透過無人機多張照片與影像，讓3DGS能有效建構坑洞3D模型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560052" y="2798064"/>
            <a:ext cx="7886700" cy="2276856"/>
            <a:chOff x="0" y="0"/>
            <a:chExt cx="10515600" cy="30358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15600" cy="3035808"/>
            </a:xfrm>
            <a:custGeom>
              <a:avLst/>
              <a:gdLst/>
              <a:ahLst/>
              <a:cxnLst/>
              <a:rect l="l" t="t" r="r" b="b"/>
              <a:pathLst>
                <a:path w="10515600" h="3035808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10009632" y="0"/>
                  </a:lnTo>
                  <a:cubicBezTo>
                    <a:pt x="10289032" y="0"/>
                    <a:pt x="10515600" y="226568"/>
                    <a:pt x="10515600" y="505968"/>
                  </a:cubicBezTo>
                  <a:lnTo>
                    <a:pt x="10515600" y="2529840"/>
                  </a:lnTo>
                  <a:cubicBezTo>
                    <a:pt x="10515600" y="2809240"/>
                    <a:pt x="10289032" y="3035808"/>
                    <a:pt x="10009632" y="3035808"/>
                  </a:cubicBezTo>
                  <a:lnTo>
                    <a:pt x="505968" y="3035808"/>
                  </a:lnTo>
                  <a:cubicBezTo>
                    <a:pt x="226568" y="3035808"/>
                    <a:pt x="0" y="2809240"/>
                    <a:pt x="0" y="25298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875520" y="2999232"/>
            <a:ext cx="7132320" cy="5943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資源分配</a:t>
            </a:r>
            <a:endParaRPr lang="en-US" sz="3300" b="1" dirty="0">
              <a:solidFill>
                <a:srgbClr val="2563EB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875520" y="3794760"/>
            <a:ext cx="7132320" cy="1033271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sz="26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AI藉由3D模型去測量坑洞的體積與深度，再有效分配人力與資源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24712" y="5472684"/>
            <a:ext cx="7886700" cy="2276856"/>
            <a:chOff x="0" y="0"/>
            <a:chExt cx="10515600" cy="3035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515600" cy="3035808"/>
            </a:xfrm>
            <a:custGeom>
              <a:avLst/>
              <a:gdLst/>
              <a:ahLst/>
              <a:cxnLst/>
              <a:rect l="l" t="t" r="r" b="b"/>
              <a:pathLst>
                <a:path w="10515600" h="3035808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10009632" y="0"/>
                  </a:lnTo>
                  <a:cubicBezTo>
                    <a:pt x="10289032" y="0"/>
                    <a:pt x="10515600" y="226568"/>
                    <a:pt x="10515600" y="505968"/>
                  </a:cubicBezTo>
                  <a:lnTo>
                    <a:pt x="10515600" y="2529840"/>
                  </a:lnTo>
                  <a:cubicBezTo>
                    <a:pt x="10515600" y="2809240"/>
                    <a:pt x="10289032" y="3035808"/>
                    <a:pt x="10009632" y="3035808"/>
                  </a:cubicBezTo>
                  <a:lnTo>
                    <a:pt x="505968" y="3035808"/>
                  </a:lnTo>
                  <a:cubicBezTo>
                    <a:pt x="226568" y="3035808"/>
                    <a:pt x="0" y="2809240"/>
                    <a:pt x="0" y="25298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17320" y="5696712"/>
            <a:ext cx="7132320" cy="5943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降低人工風險</a:t>
            </a:r>
            <a:endParaRPr lang="en-US" sz="3300" b="1" dirty="0">
              <a:solidFill>
                <a:srgbClr val="2563EB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17320" y="6464808"/>
            <a:ext cx="7132320" cy="1033271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sz="2600" b="1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不用傳統人力去測量，改用無人機取代</a:t>
            </a:r>
            <a:endParaRPr lang="en-US" sz="2400" b="1"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9560052" y="5472684"/>
            <a:ext cx="7886700" cy="2276856"/>
            <a:chOff x="0" y="0"/>
            <a:chExt cx="10515600" cy="3035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15600" cy="3035808"/>
            </a:xfrm>
            <a:custGeom>
              <a:avLst/>
              <a:gdLst/>
              <a:ahLst/>
              <a:cxnLst/>
              <a:rect l="l" t="t" r="r" b="b"/>
              <a:pathLst>
                <a:path w="10515600" h="3035808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10009632" y="0"/>
                  </a:lnTo>
                  <a:cubicBezTo>
                    <a:pt x="10289032" y="0"/>
                    <a:pt x="10515600" y="226568"/>
                    <a:pt x="10515600" y="505968"/>
                  </a:cubicBezTo>
                  <a:lnTo>
                    <a:pt x="10515600" y="2529840"/>
                  </a:lnTo>
                  <a:cubicBezTo>
                    <a:pt x="10515600" y="2809240"/>
                    <a:pt x="10289032" y="3035808"/>
                    <a:pt x="10009632" y="3035808"/>
                  </a:cubicBezTo>
                  <a:lnTo>
                    <a:pt x="505968" y="3035808"/>
                  </a:lnTo>
                  <a:cubicBezTo>
                    <a:pt x="226568" y="3035808"/>
                    <a:pt x="0" y="2809240"/>
                    <a:pt x="0" y="25298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875520" y="5696712"/>
            <a:ext cx="7132320" cy="5943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2563EB"/>
                </a:solidFill>
                <a:latin typeface="標楷體"/>
                <a:ea typeface="標楷體"/>
                <a:cs typeface="標楷體"/>
              </a:defRPr>
            </a:pPr>
            <a:r>
              <a:rPr lang="en-US" sz="3000" b="1" dirty="0" err="1">
                <a:solidFill>
                  <a:srgbClr val="2563E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增加修復效率</a:t>
            </a:r>
            <a:endParaRPr lang="en-US" sz="3300" b="1" dirty="0">
              <a:solidFill>
                <a:srgbClr val="2563EB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875520" y="6464808"/>
            <a:ext cx="7132320" cy="1033271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en-US" sz="2600" b="1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藉由AI的調度達到修復效率</a:t>
            </a:r>
            <a:endParaRPr lang="en-US" sz="2400" b="1"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82880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標楷體"/>
                <a:ea typeface="標楷體"/>
                <a:cs typeface="標楷體"/>
              </a:defRPr>
            </a:pPr>
            <a:endParaRPr>
              <a:latin typeface="標楷體"/>
              <a:ea typeface="標楷體"/>
              <a:cs typeface="標楷體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6733520" cy="8229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dirty="0" err="1" sz="440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肆、驗證方式｜Blender</a:t>
            </a:r>
            <a:r>
              <a:rPr dirty="0" sz="440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 </a:t>
            </a:r>
            <a:r>
              <a:rPr dirty="0" err="1" sz="4400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模擬跑道受損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779240" y="9646920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06780"/>
                </a:solidFill>
                <a:latin typeface="標楷體"/>
                <a:ea typeface="標楷體"/>
                <a:cs typeface="標楷體"/>
              </a:defRPr>
            </a:pPr>
            <a:r>
              <a:rPr sz="1600">
                <a:solidFill>
                  <a:srgbClr val="506780"/>
                </a:solidFill>
                <a:latin typeface="標楷體"/>
                <a:ea typeface="標楷體"/>
                <a:cs typeface="標楷體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28800"/>
            <a:ext cx="1645920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dirty="0" err="1" sz="28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情境：兩座機場跑道受損，驗證辨識、估算與調度流程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2743200"/>
            <a:ext cx="8641080" cy="1325880"/>
          </a:xfrm>
          <a:prstGeom prst="roundRect">
            <a:avLst/>
          </a:prstGeom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標楷體"/>
                <a:ea typeface="標楷體"/>
                <a:cs typeface="標楷體"/>
              </a:defRPr>
            </a:pPr>
            <a:endParaRPr>
              <a:latin typeface="標楷體"/>
              <a:ea typeface="標楷體"/>
              <a:cs typeface="標楷體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" y="285292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dirty="0" sz="3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01 </a:t>
            </a:r>
            <a:r>
              <a:rPr dirty="0" err="1" sz="3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建立模擬場景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1560" y="3410712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dirty="0"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Blender </a:t>
            </a:r>
            <a:r>
              <a:rPr dirty="0" err="1"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製作地圖與跑道彈坑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63440" y="4041648"/>
            <a:ext cx="914400" cy="3931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50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34840"/>
            <a:ext cx="8641080" cy="1325880"/>
          </a:xfrm>
          <a:prstGeom prst="roundRect">
            <a:avLst/>
          </a:prstGeom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標楷體"/>
                <a:ea typeface="標楷體"/>
                <a:cs typeface="標楷體"/>
              </a:defRPr>
            </a:pPr>
            <a:endParaRPr>
              <a:latin typeface="標楷體"/>
              <a:ea typeface="標楷體"/>
              <a:cs typeface="標楷體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560" y="454456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dirty="0" sz="3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02 </a:t>
            </a:r>
            <a:r>
              <a:rPr dirty="0" err="1" sz="3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判讀災損資訊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5102352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dirty="0" err="1"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辨識坑洞數目，估算各坑洞體積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63440" y="5733288"/>
            <a:ext cx="914400" cy="3931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50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6126480"/>
            <a:ext cx="8641080" cy="1325880"/>
          </a:xfrm>
          <a:prstGeom prst="roundRect">
            <a:avLst/>
          </a:prstGeom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標楷體"/>
                <a:ea typeface="標楷體"/>
                <a:cs typeface="標楷體"/>
              </a:defRPr>
            </a:pPr>
            <a:endParaRPr>
              <a:latin typeface="標楷體"/>
              <a:ea typeface="標楷體"/>
              <a:cs typeface="標楷體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1560" y="623620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dirty="0" sz="3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03 </a:t>
            </a:r>
            <a:r>
              <a:rPr dirty="0" err="1" sz="3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規劃修補作業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1560" y="6793992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dirty="0"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AI </a:t>
            </a:r>
            <a:r>
              <a:rPr dirty="0" err="1"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提出資源分配與修補順序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標楷體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4199E0F-4D49-4E7A-BEF3-C688F9F1E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770" y="2366265"/>
            <a:ext cx="8205746" cy="54704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lstStyle/>
            <a:p>
              <a:pPr>
                <a:defRPr>
                  <a:latin typeface="標楷體"/>
                  <a:ea typeface="標楷體"/>
                  <a:cs typeface="標楷體"/>
                </a:defRPr>
              </a:pPr>
              <a:endParaRPr>
                <a:latin typeface="標楷體"/>
                <a:ea typeface="標楷體"/>
                <a:cs typeface="標楷體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779240" y="9646920"/>
            <a:ext cx="502920" cy="32004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506780"/>
                </a:solidFill>
                <a:latin typeface="標楷體"/>
                <a:ea typeface="標楷體"/>
                <a:cs typeface="標楷體"/>
              </a:defRPr>
            </a:pPr>
            <a:r>
              <a:rPr lang="en-US" sz="1600" spc="2">
                <a:solidFill>
                  <a:srgbClr val="506780"/>
                </a:solidFill>
                <a:latin typeface="標楷體"/>
                <a:ea typeface="標楷體"/>
                <a:cs typeface="標楷體"/>
                <a:sym typeface="Noto Sans CJK TC"/>
              </a:rPr>
              <a:t>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0" y="3383280"/>
            <a:ext cx="8229600" cy="2423160"/>
          </a:xfrm>
          <a:prstGeom prst="rect">
            <a:avLst/>
          </a:prstGeom>
        </p:spPr>
        <p:txBody>
          <a:bodyPr lIns="27432" tIns="18288" rIns="27432" bIns="18288" rtlCol="0" anchor="ctr" wrap="square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6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6600" b="1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報告完畢</a:t>
            </a:r>
            <a:endParaRPr lang="en-US" sz="7210" b="1" dirty="0">
              <a:solidFill>
                <a:srgbClr val="163048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600">
                <a:solidFill>
                  <a:srgbClr val="163048"/>
                </a:solidFill>
                <a:latin typeface="標楷體"/>
                <a:ea typeface="標楷體"/>
                <a:cs typeface="標楷體"/>
              </a:defRPr>
            </a:pPr>
            <a:r>
              <a:rPr lang="en-US" sz="6600" b="1" dirty="0" err="1">
                <a:solidFill>
                  <a:srgbClr val="16304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標楷體"/>
                <a:sym typeface="Noto Sans CJK TC"/>
              </a:rPr>
              <a:t>恭請指教</a:t>
            </a:r>
            <a:endParaRPr lang="en-US" sz="7210" b="1" dirty="0">
              <a:solidFill>
                <a:srgbClr val="163048"/>
              </a:solidFill>
              <a:latin typeface="標楷體" panose="03000509000000000000" pitchFamily="65" charset="-120"/>
              <a:ea typeface="標楷體" panose="03000509000000000000" pitchFamily="65" charset="-120"/>
              <a:cs typeface="標楷體"/>
              <a:sym typeface="Noto Sans CJK T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標楷體"/>
        <a:ea typeface="標楷體"/>
        <a:cs typeface="標楷體"/>
        <a:font script="Jpan" typeface="標楷體"/>
        <a:font script="Hang" typeface="標楷體"/>
        <a:font script="Hans" typeface="標楷體"/>
        <a:font script="Hant" typeface="標楷體"/>
        <a:font script="Arab" typeface="標楷體"/>
        <a:font script="Hebr" typeface="標楷體"/>
        <a:font script="Thai" typeface="標楷體"/>
        <a:font script="Ethi" typeface="標楷體"/>
        <a:font script="Beng" typeface="標楷體"/>
        <a:font script="Gujr" typeface="標楷體"/>
        <a:font script="Khmr" typeface="標楷體"/>
        <a:font script="Knda" typeface="標楷體"/>
        <a:font script="Guru" typeface="標楷體"/>
        <a:font script="Cans" typeface="標楷體"/>
        <a:font script="Cher" typeface="標楷體"/>
        <a:font script="Yiii" typeface="標楷體"/>
        <a:font script="Tibt" typeface="標楷體"/>
        <a:font script="Thaa" typeface="標楷體"/>
        <a:font script="Deva" typeface="標楷體"/>
        <a:font script="Telu" typeface="標楷體"/>
        <a:font script="Taml" typeface="標楷體"/>
        <a:font script="Syrc" typeface="標楷體"/>
        <a:font script="Orya" typeface="標楷體"/>
        <a:font script="Mlym" typeface="標楷體"/>
        <a:font script="Laoo" typeface="標楷體"/>
        <a:font script="Sinh" typeface="標楷體"/>
        <a:font script="Mong" typeface="標楷體"/>
        <a:font script="Viet" typeface="標楷體"/>
        <a:font script="Uigh" typeface="標楷體"/>
        <a:font script="Geor" typeface="標楷體"/>
      </a:majorFont>
      <a:minorFont>
        <a:latin typeface="標楷體"/>
        <a:ea typeface="標楷體"/>
        <a:cs typeface="標楷體"/>
        <a:font script="Jpan" typeface="標楷體"/>
        <a:font script="Hang" typeface="標楷體"/>
        <a:font script="Hans" typeface="標楷體"/>
        <a:font script="Hant" typeface="標楷體"/>
        <a:font script="Arab" typeface="標楷體"/>
        <a:font script="Hebr" typeface="標楷體"/>
        <a:font script="Thai" typeface="標楷體"/>
        <a:font script="Ethi" typeface="標楷體"/>
        <a:font script="Beng" typeface="標楷體"/>
        <a:font script="Gujr" typeface="標楷體"/>
        <a:font script="Khmr" typeface="標楷體"/>
        <a:font script="Knda" typeface="標楷體"/>
        <a:font script="Guru" typeface="標楷體"/>
        <a:font script="Cans" typeface="標楷體"/>
        <a:font script="Cher" typeface="標楷體"/>
        <a:font script="Yiii" typeface="標楷體"/>
        <a:font script="Tibt" typeface="標楷體"/>
        <a:font script="Thaa" typeface="標楷體"/>
        <a:font script="Deva" typeface="標楷體"/>
        <a:font script="Telu" typeface="標楷體"/>
        <a:font script="Taml" typeface="標楷體"/>
        <a:font script="Syrc" typeface="標楷體"/>
        <a:font script="Orya" typeface="標楷體"/>
        <a:font script="Mlym" typeface="標楷體"/>
        <a:font script="Laoo" typeface="標楷體"/>
        <a:font script="Sinh" typeface="標楷體"/>
        <a:font script="Mong" typeface="標楷體"/>
        <a:font script="Viet" typeface="標楷體"/>
        <a:font script="Uigh" typeface="標楷體"/>
        <a:font script="Geor" typeface="標楷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標楷體" panose="020F0302020204030204"/>
        <a:ea typeface="標楷體"/>
        <a:cs typeface="標楷體"/>
        <a:font script="Jpan" typeface="標楷體"/>
        <a:font script="Hang" typeface="標楷體"/>
        <a:font script="Hans" typeface="標楷體"/>
        <a:font script="Hant" typeface="標楷體"/>
        <a:font script="Arab" typeface="標楷體"/>
        <a:font script="Hebr" typeface="標楷體"/>
        <a:font script="Thai" typeface="標楷體"/>
        <a:font script="Ethi" typeface="標楷體"/>
        <a:font script="Beng" typeface="標楷體"/>
        <a:font script="Gujr" typeface="標楷體"/>
        <a:font script="Khmr" typeface="標楷體"/>
        <a:font script="Knda" typeface="標楷體"/>
        <a:font script="Guru" typeface="標楷體"/>
        <a:font script="Cans" typeface="標楷體"/>
        <a:font script="Cher" typeface="標楷體"/>
        <a:font script="Yiii" typeface="標楷體"/>
        <a:font script="Tibt" typeface="標楷體"/>
        <a:font script="Thaa" typeface="標楷體"/>
        <a:font script="Deva" typeface="標楷體"/>
        <a:font script="Telu" typeface="標楷體"/>
        <a:font script="Taml" typeface="標楷體"/>
        <a:font script="Syrc" typeface="標楷體"/>
        <a:font script="Orya" typeface="標楷體"/>
        <a:font script="Mlym" typeface="標楷體"/>
        <a:font script="Laoo" typeface="標楷體"/>
        <a:font script="Sinh" typeface="標楷體"/>
        <a:font script="Mong" typeface="標楷體"/>
        <a:font script="Viet" typeface="標楷體"/>
        <a:font script="Uigh" typeface="標楷體"/>
        <a:font script="Geor" typeface="標楷體"/>
        <a:font script="Armn" typeface="標楷體"/>
        <a:font script="Bugi" typeface="標楷體"/>
        <a:font script="Bopo" typeface="標楷體"/>
        <a:font script="Java" typeface="標楷體"/>
        <a:font script="Lisu" typeface="標楷體"/>
        <a:font script="Mymr" typeface="標楷體"/>
        <a:font script="Nkoo" typeface="標楷體"/>
        <a:font script="Olck" typeface="標楷體"/>
        <a:font script="Osma" typeface="標楷體"/>
        <a:font script="Phag" typeface="標楷體"/>
        <a:font script="Syrn" typeface="標楷體"/>
        <a:font script="Syrj" typeface="標楷體"/>
        <a:font script="Syre" typeface="標楷體"/>
        <a:font script="Sora" typeface="標楷體"/>
        <a:font script="Tale" typeface="標楷體"/>
        <a:font script="Talu" typeface="標楷體"/>
        <a:font script="Tfng" typeface="標楷體"/>
      </a:majorFont>
      <a:minorFont>
        <a:latin typeface="標楷體" panose="020F0502020204030204"/>
        <a:ea typeface="標楷體"/>
        <a:cs typeface="標楷體"/>
        <a:font script="Jpan" typeface="標楷體"/>
        <a:font script="Hang" typeface="標楷體"/>
        <a:font script="Hans" typeface="標楷體"/>
        <a:font script="Hant" typeface="標楷體"/>
        <a:font script="Arab" typeface="標楷體"/>
        <a:font script="Hebr" typeface="標楷體"/>
        <a:font script="Thai" typeface="標楷體"/>
        <a:font script="Ethi" typeface="標楷體"/>
        <a:font script="Beng" typeface="標楷體"/>
        <a:font script="Gujr" typeface="標楷體"/>
        <a:font script="Khmr" typeface="標楷體"/>
        <a:font script="Knda" typeface="標楷體"/>
        <a:font script="Guru" typeface="標楷體"/>
        <a:font script="Cans" typeface="標楷體"/>
        <a:font script="Cher" typeface="標楷體"/>
        <a:font script="Yiii" typeface="標楷體"/>
        <a:font script="Tibt" typeface="標楷體"/>
        <a:font script="Thaa" typeface="標楷體"/>
        <a:font script="Deva" typeface="標楷體"/>
        <a:font script="Telu" typeface="標楷體"/>
        <a:font script="Taml" typeface="標楷體"/>
        <a:font script="Syrc" typeface="標楷體"/>
        <a:font script="Orya" typeface="標楷體"/>
        <a:font script="Mlym" typeface="標楷體"/>
        <a:font script="Laoo" typeface="標楷體"/>
        <a:font script="Sinh" typeface="標楷體"/>
        <a:font script="Mong" typeface="標楷體"/>
        <a:font script="Viet" typeface="標楷體"/>
        <a:font script="Uigh" typeface="標楷體"/>
        <a:font script="Geor" typeface="標楷體"/>
        <a:font script="Armn" typeface="標楷體"/>
        <a:font script="Bugi" typeface="標楷體"/>
        <a:font script="Bopo" typeface="標楷體"/>
        <a:font script="Java" typeface="標楷體"/>
        <a:font script="Lisu" typeface="標楷體"/>
        <a:font script="Mymr" typeface="標楷體"/>
        <a:font script="Nkoo" typeface="標楷體"/>
        <a:font script="Olck" typeface="標楷體"/>
        <a:font script="Osma" typeface="標楷體"/>
        <a:font script="Phag" typeface="標楷體"/>
        <a:font script="Syrn" typeface="標楷體"/>
        <a:font script="Syrj" typeface="標楷體"/>
        <a:font script="Syre" typeface="標楷體"/>
        <a:font script="Sora" typeface="標楷體"/>
        <a:font script="Tale" typeface="標楷體"/>
        <a:font script="Talu" typeface="標楷體"/>
        <a:font script="Tfng" typeface="標楷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351</Words>
  <Application>Microsoft Office PowerPoint</Application>
  <PresentationFormat>自訂</PresentationFormat>
  <Paragraphs>132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12</vt:i4>
      </vt:variant>
    </vt:vector>
  </HeadingPairs>
  <TitlesOfParts>
    <vt:vector size="15" baseType="lpstr">
      <vt:lpstr>標楷體</vt:lpstr>
      <vt:lpstr>HDOfficeLightV0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%E5%9C%8B%E9%98%B2%E5%A0%B1%E5%91%8A_%E7%B2%BE%E7%B0%A1%E5%9C%96%E6%96%87%E5%84%AA%E5%8C%96%E7%89%88.pptx</dc:title>
  <dc:creator>陳宥翔</dc:creator>
  <cp:lastModifiedBy>宥翔 陳</cp:lastModifiedBy>
  <cp:revision>8</cp:revision>
  <dcterms:created xsi:type="dcterms:W3CDTF">2006-08-16T00:00:00Z</dcterms:created>
  <dcterms:modified xsi:type="dcterms:W3CDTF">2026-10-10T08:58:31Z</dcterms:modified>
  <dc:identifier>DAHXe8Viva8</dc:identifier>
</cp:coreProperties>
</file>